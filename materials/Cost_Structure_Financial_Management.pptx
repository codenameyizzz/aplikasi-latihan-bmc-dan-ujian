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64" r:id="rId4"/>
    <p:sldId id="285" r:id="rId5"/>
    <p:sldId id="273" r:id="rId6"/>
    <p:sldId id="284" r:id="rId7"/>
    <p:sldId id="286" r:id="rId8"/>
    <p:sldId id="287" r:id="rId9"/>
    <p:sldId id="274" r:id="rId10"/>
    <p:sldId id="267" r:id="rId11"/>
    <p:sldId id="266" r:id="rId12"/>
    <p:sldId id="275" r:id="rId13"/>
    <p:sldId id="276" r:id="rId14"/>
    <p:sldId id="277" r:id="rId15"/>
    <p:sldId id="278" r:id="rId16"/>
    <p:sldId id="262" r:id="rId17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ontserrat Bold" panose="020B0604020202020204" charset="0"/>
      <p:regular r:id="rId23"/>
    </p:embeddedFont>
    <p:embeddedFont>
      <p:font typeface="Montserrat Semi-Bold" panose="020B0604020202020204" charset="0"/>
      <p:regular r:id="rId24"/>
    </p:embeddedFont>
    <p:embeddedFont>
      <p:font typeface="Tahoma" panose="020B0604030504040204" pitchFamily="34" charset="0"/>
      <p:regular r:id="rId25"/>
      <p:bold r:id="rId26"/>
    </p:embeddedFont>
    <p:embeddedFont>
      <p:font typeface="Poppins Bold" panose="020B0604020202020204" charset="0"/>
      <p:regular r:id="rId27"/>
    </p:embeddedFont>
    <p:embeddedFont>
      <p:font typeface="Poppins Medium" panose="020B0604020202020204" charset="0"/>
      <p:regular r:id="rId28"/>
    </p:embeddedFont>
    <p:embeddedFont>
      <p:font typeface="Poppins Ultra-Bold" panose="020B0604020202020204" charset="0"/>
      <p:regular r:id="rId29"/>
    </p:embeddedFont>
    <p:embeddedFont>
      <p:font typeface="Montserrat" panose="020B0604020202020204" charset="0"/>
      <p:regular r:id="rId30"/>
    </p:embeddedFont>
    <p:embeddedFont>
      <p:font typeface="MV Boli" panose="02000500030200090000" pitchFamily="2" charset="0"/>
      <p:regular r:id="rId31"/>
    </p:embeddedFont>
    <p:embeddedFont>
      <p:font typeface="Bauhaus 93" panose="04030905020B02020C02" pitchFamily="82" charset="0"/>
      <p:regular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15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1F9D1A-163F-4573-98EF-78B827D5C82A}" type="doc">
      <dgm:prSet loTypeId="urn:microsoft.com/office/officeart/2005/8/layout/vList6" loCatId="list" qsTypeId="urn:microsoft.com/office/officeart/2005/8/quickstyle/simple1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B77C3476-5C4C-4141-B66B-A8B1B591DCCF}">
      <dgm:prSet phldrT="[Text]"/>
      <dgm:spPr/>
      <dgm:t>
        <a:bodyPr/>
        <a:lstStyle/>
        <a:p>
          <a:r>
            <a:rPr lang="en-US" dirty="0" err="1" smtClean="0"/>
            <a:t>Biaya</a:t>
          </a:r>
          <a:r>
            <a:rPr lang="en-US" dirty="0" smtClean="0"/>
            <a:t> </a:t>
          </a:r>
          <a:r>
            <a:rPr lang="en-US" dirty="0" err="1" smtClean="0"/>
            <a:t>Langsung</a:t>
          </a:r>
          <a:endParaRPr lang="en-US" dirty="0"/>
        </a:p>
      </dgm:t>
    </dgm:pt>
    <dgm:pt modelId="{FEE58EAD-FC90-4DFB-A16D-78ADB6C6A575}" type="parTrans" cxnId="{A4C07F5A-DEF6-47AC-BA6E-E4DEAA2A927C}">
      <dgm:prSet/>
      <dgm:spPr/>
      <dgm:t>
        <a:bodyPr/>
        <a:lstStyle/>
        <a:p>
          <a:endParaRPr lang="en-US"/>
        </a:p>
      </dgm:t>
    </dgm:pt>
    <dgm:pt modelId="{86AB0655-5AEE-4762-BB10-2B91D32E6AB2}" type="sibTrans" cxnId="{A4C07F5A-DEF6-47AC-BA6E-E4DEAA2A927C}">
      <dgm:prSet/>
      <dgm:spPr/>
      <dgm:t>
        <a:bodyPr/>
        <a:lstStyle/>
        <a:p>
          <a:endParaRPr lang="en-US"/>
        </a:p>
      </dgm:t>
    </dgm:pt>
    <dgm:pt modelId="{9DA7D31A-A715-4E31-96E5-FE681E1B4B3B}">
      <dgm:prSet phldrT="[Text]"/>
      <dgm:spPr/>
      <dgm:t>
        <a:bodyPr/>
        <a:lstStyle/>
        <a:p>
          <a:r>
            <a:rPr lang="en-US" dirty="0" err="1" smtClean="0"/>
            <a:t>Transaksi</a:t>
          </a:r>
          <a:r>
            <a:rPr lang="en-US" dirty="0" smtClean="0"/>
            <a:t> yang </a:t>
          </a:r>
          <a:r>
            <a:rPr lang="en-US" dirty="0" err="1" smtClean="0"/>
            <a:t>berhubungan</a:t>
          </a:r>
          <a:r>
            <a:rPr lang="en-US" dirty="0" smtClean="0"/>
            <a:t> </a:t>
          </a:r>
          <a:r>
            <a:rPr lang="en-US" dirty="0" err="1" smtClean="0"/>
            <a:t>secara</a:t>
          </a:r>
          <a:r>
            <a:rPr lang="en-US" dirty="0" smtClean="0"/>
            <a:t> </a:t>
          </a:r>
          <a:r>
            <a:rPr lang="en-US" dirty="0" err="1" smtClean="0"/>
            <a:t>langsung</a:t>
          </a:r>
          <a:r>
            <a:rPr lang="en-US" dirty="0" smtClean="0"/>
            <a:t> </a:t>
          </a:r>
          <a:r>
            <a:rPr lang="en-US" dirty="0" err="1" smtClean="0"/>
            <a:t>dalam</a:t>
          </a:r>
          <a:r>
            <a:rPr lang="en-US" dirty="0" smtClean="0"/>
            <a:t> </a:t>
          </a:r>
          <a:r>
            <a:rPr lang="en-US" dirty="0" err="1" smtClean="0"/>
            <a:t>produksi</a:t>
          </a:r>
          <a:endParaRPr lang="en-US" dirty="0"/>
        </a:p>
      </dgm:t>
    </dgm:pt>
    <dgm:pt modelId="{497065D6-29F0-456C-9776-DBB7A9CBD09E}" type="parTrans" cxnId="{90AC11C8-59BA-434A-A745-0DD8C823DDF8}">
      <dgm:prSet/>
      <dgm:spPr/>
      <dgm:t>
        <a:bodyPr/>
        <a:lstStyle/>
        <a:p>
          <a:endParaRPr lang="en-US"/>
        </a:p>
      </dgm:t>
    </dgm:pt>
    <dgm:pt modelId="{1C4EC10F-35F5-4E5A-8705-21E92E72B291}" type="sibTrans" cxnId="{90AC11C8-59BA-434A-A745-0DD8C823DDF8}">
      <dgm:prSet/>
      <dgm:spPr/>
      <dgm:t>
        <a:bodyPr/>
        <a:lstStyle/>
        <a:p>
          <a:endParaRPr lang="en-US"/>
        </a:p>
      </dgm:t>
    </dgm:pt>
    <dgm:pt modelId="{19411603-F0E2-481E-9E45-7B8D12E4D91D}">
      <dgm:prSet phldrT="[Text]"/>
      <dgm:spPr/>
      <dgm:t>
        <a:bodyPr/>
        <a:lstStyle/>
        <a:p>
          <a:r>
            <a:rPr lang="en-US" dirty="0" err="1" smtClean="0"/>
            <a:t>Biaya</a:t>
          </a:r>
          <a:r>
            <a:rPr lang="en-US" dirty="0" smtClean="0"/>
            <a:t> </a:t>
          </a:r>
          <a:r>
            <a:rPr lang="en-US" dirty="0" err="1" smtClean="0"/>
            <a:t>Produksi</a:t>
          </a:r>
          <a:r>
            <a:rPr lang="en-US" dirty="0" smtClean="0"/>
            <a:t> (</a:t>
          </a:r>
          <a:r>
            <a:rPr lang="en-US" dirty="0" err="1" smtClean="0"/>
            <a:t>bahan</a:t>
          </a:r>
          <a:r>
            <a:rPr lang="en-US" dirty="0" smtClean="0"/>
            <a:t> </a:t>
          </a:r>
          <a:r>
            <a:rPr lang="en-US" dirty="0" err="1" smtClean="0"/>
            <a:t>baku</a:t>
          </a:r>
          <a:r>
            <a:rPr lang="en-US" dirty="0" smtClean="0"/>
            <a:t>, SDM, </a:t>
          </a:r>
          <a:r>
            <a:rPr lang="en-US" dirty="0" err="1" smtClean="0"/>
            <a:t>hibah</a:t>
          </a:r>
          <a:r>
            <a:rPr lang="en-US" dirty="0" smtClean="0"/>
            <a:t>, </a:t>
          </a:r>
          <a:r>
            <a:rPr lang="en-US" dirty="0" err="1" smtClean="0"/>
            <a:t>kontrak</a:t>
          </a:r>
          <a:r>
            <a:rPr lang="en-US" dirty="0" smtClean="0"/>
            <a:t>, </a:t>
          </a:r>
          <a:r>
            <a:rPr lang="en-US" dirty="0" err="1" smtClean="0"/>
            <a:t>proyek</a:t>
          </a:r>
          <a:r>
            <a:rPr lang="en-US" dirty="0" smtClean="0"/>
            <a:t>, </a:t>
          </a:r>
          <a:r>
            <a:rPr lang="en-US" dirty="0" err="1" smtClean="0"/>
            <a:t>fungsi</a:t>
          </a:r>
          <a:r>
            <a:rPr lang="en-US" dirty="0" smtClean="0"/>
            <a:t> </a:t>
          </a:r>
          <a:r>
            <a:rPr lang="en-US" dirty="0" err="1" smtClean="0"/>
            <a:t>atau</a:t>
          </a:r>
          <a:r>
            <a:rPr lang="en-US" dirty="0" smtClean="0"/>
            <a:t> </a:t>
          </a:r>
          <a:r>
            <a:rPr lang="en-US" dirty="0" err="1" smtClean="0"/>
            <a:t>kegiatan</a:t>
          </a:r>
          <a:endParaRPr lang="en-US" dirty="0"/>
        </a:p>
      </dgm:t>
    </dgm:pt>
    <dgm:pt modelId="{437C519C-E7ED-4E62-B66F-A6AF8199CA46}" type="parTrans" cxnId="{7483413C-841D-4665-8722-26BA87F4B494}">
      <dgm:prSet/>
      <dgm:spPr/>
      <dgm:t>
        <a:bodyPr/>
        <a:lstStyle/>
        <a:p>
          <a:endParaRPr lang="en-US"/>
        </a:p>
      </dgm:t>
    </dgm:pt>
    <dgm:pt modelId="{1CADF387-C004-4F1C-A1DB-C3F2E89B65A4}" type="sibTrans" cxnId="{7483413C-841D-4665-8722-26BA87F4B494}">
      <dgm:prSet/>
      <dgm:spPr/>
      <dgm:t>
        <a:bodyPr/>
        <a:lstStyle/>
        <a:p>
          <a:endParaRPr lang="en-US"/>
        </a:p>
      </dgm:t>
    </dgm:pt>
    <dgm:pt modelId="{8E8C425D-8C0F-4BCF-915E-B2732E8BEB5D}">
      <dgm:prSet phldrT="[Text]"/>
      <dgm:spPr/>
      <dgm:t>
        <a:bodyPr/>
        <a:lstStyle/>
        <a:p>
          <a:r>
            <a:rPr lang="en-US" dirty="0" err="1" smtClean="0"/>
            <a:t>Biaya</a:t>
          </a:r>
          <a:r>
            <a:rPr lang="en-US" dirty="0" smtClean="0"/>
            <a:t> </a:t>
          </a:r>
          <a:r>
            <a:rPr lang="en-US" dirty="0" err="1" smtClean="0"/>
            <a:t>Tidak</a:t>
          </a:r>
          <a:r>
            <a:rPr lang="en-US" dirty="0" smtClean="0"/>
            <a:t> </a:t>
          </a:r>
          <a:r>
            <a:rPr lang="en-US" dirty="0" err="1" smtClean="0"/>
            <a:t>Langsung</a:t>
          </a:r>
          <a:endParaRPr lang="en-US" dirty="0"/>
        </a:p>
      </dgm:t>
    </dgm:pt>
    <dgm:pt modelId="{E8856DBD-E3E8-4923-A06B-3DF74D203A71}" type="parTrans" cxnId="{F52EB401-C83D-4C84-8BB5-D14A76E1F70D}">
      <dgm:prSet/>
      <dgm:spPr/>
      <dgm:t>
        <a:bodyPr/>
        <a:lstStyle/>
        <a:p>
          <a:endParaRPr lang="en-US"/>
        </a:p>
      </dgm:t>
    </dgm:pt>
    <dgm:pt modelId="{70D0C276-367E-4695-8995-BF6C58B4286C}" type="sibTrans" cxnId="{F52EB401-C83D-4C84-8BB5-D14A76E1F70D}">
      <dgm:prSet/>
      <dgm:spPr/>
      <dgm:t>
        <a:bodyPr/>
        <a:lstStyle/>
        <a:p>
          <a:endParaRPr lang="en-US"/>
        </a:p>
      </dgm:t>
    </dgm:pt>
    <dgm:pt modelId="{2D720C9C-A574-43F5-AF00-CCC289289DD1}">
      <dgm:prSet phldrT="[Text]"/>
      <dgm:spPr/>
      <dgm:t>
        <a:bodyPr/>
        <a:lstStyle/>
        <a:p>
          <a:r>
            <a:rPr lang="en-US" dirty="0" err="1" smtClean="0"/>
            <a:t>Biaya</a:t>
          </a:r>
          <a:r>
            <a:rPr lang="en-US" dirty="0" smtClean="0"/>
            <a:t> </a:t>
          </a:r>
          <a:r>
            <a:rPr lang="en-US" dirty="0" err="1" smtClean="0"/>
            <a:t>pendukung</a:t>
          </a:r>
          <a:r>
            <a:rPr lang="en-US" dirty="0" smtClean="0"/>
            <a:t> (</a:t>
          </a:r>
          <a:r>
            <a:rPr lang="en-US" dirty="0" err="1" smtClean="0"/>
            <a:t>keberadaannya</a:t>
          </a:r>
          <a:r>
            <a:rPr lang="en-US" dirty="0" smtClean="0"/>
            <a:t> </a:t>
          </a:r>
          <a:r>
            <a:rPr lang="en-US" dirty="0" err="1" smtClean="0"/>
            <a:t>timbul</a:t>
          </a:r>
          <a:r>
            <a:rPr lang="en-US" dirty="0" smtClean="0"/>
            <a:t> </a:t>
          </a:r>
          <a:r>
            <a:rPr lang="en-US" dirty="0" err="1" smtClean="0"/>
            <a:t>sebagai</a:t>
          </a:r>
          <a:r>
            <a:rPr lang="en-US" dirty="0" smtClean="0"/>
            <a:t> </a:t>
          </a:r>
          <a:endParaRPr lang="en-US" dirty="0"/>
        </a:p>
      </dgm:t>
    </dgm:pt>
    <dgm:pt modelId="{7B467FA5-0FD9-49EE-9FBE-39EC12D5C44C}" type="parTrans" cxnId="{E0608C94-AEB9-403E-9B82-73B7ED32BC5A}">
      <dgm:prSet/>
      <dgm:spPr/>
      <dgm:t>
        <a:bodyPr/>
        <a:lstStyle/>
        <a:p>
          <a:endParaRPr lang="en-US"/>
        </a:p>
      </dgm:t>
    </dgm:pt>
    <dgm:pt modelId="{34C19473-51E5-499D-91C6-CB63AA895106}" type="sibTrans" cxnId="{E0608C94-AEB9-403E-9B82-73B7ED32BC5A}">
      <dgm:prSet/>
      <dgm:spPr/>
      <dgm:t>
        <a:bodyPr/>
        <a:lstStyle/>
        <a:p>
          <a:endParaRPr lang="en-US"/>
        </a:p>
      </dgm:t>
    </dgm:pt>
    <dgm:pt modelId="{711E9EBC-46EB-4E0A-A55D-E74ED7C44103}">
      <dgm:prSet phldrT="[Text]"/>
      <dgm:spPr/>
      <dgm:t>
        <a:bodyPr/>
        <a:lstStyle/>
        <a:p>
          <a:r>
            <a:rPr lang="en-US" b="0" i="0" dirty="0" err="1" smtClean="0"/>
            <a:t>Biaya</a:t>
          </a:r>
          <a:r>
            <a:rPr lang="en-US" b="0" i="0" dirty="0" smtClean="0"/>
            <a:t> overhead </a:t>
          </a:r>
          <a:r>
            <a:rPr lang="en-US" b="0" i="0" dirty="0" err="1" smtClean="0"/>
            <a:t>kewirauahaan</a:t>
          </a:r>
          <a:r>
            <a:rPr lang="en-US" b="0" i="0" dirty="0" smtClean="0"/>
            <a:t>, </a:t>
          </a:r>
          <a:r>
            <a:rPr lang="en-US" b="0" i="0" dirty="0" err="1" smtClean="0"/>
            <a:t>asuransi</a:t>
          </a:r>
          <a:r>
            <a:rPr lang="en-US" b="0" i="0" dirty="0" smtClean="0"/>
            <a:t>, </a:t>
          </a:r>
          <a:r>
            <a:rPr lang="en-US" b="0" i="0" dirty="0" err="1" smtClean="0"/>
            <a:t>listrik</a:t>
          </a:r>
          <a:r>
            <a:rPr lang="en-US" b="0" i="0" dirty="0" smtClean="0"/>
            <a:t>, </a:t>
          </a:r>
          <a:r>
            <a:rPr lang="en-US" b="0" i="0" dirty="0" err="1" smtClean="0"/>
            <a:t>penjualan</a:t>
          </a:r>
          <a:r>
            <a:rPr lang="en-US" b="0" i="0" dirty="0" smtClean="0"/>
            <a:t>, </a:t>
          </a:r>
          <a:r>
            <a:rPr lang="en-US" b="0" i="0" dirty="0" err="1" smtClean="0"/>
            <a:t>administrasi</a:t>
          </a:r>
          <a:endParaRPr lang="en-US" dirty="0"/>
        </a:p>
      </dgm:t>
    </dgm:pt>
    <dgm:pt modelId="{23512B00-E1CD-4994-A71B-5E2E4F77A106}" type="parTrans" cxnId="{07066D13-ADA5-4C6B-979E-C7997CED1778}">
      <dgm:prSet/>
      <dgm:spPr/>
      <dgm:t>
        <a:bodyPr/>
        <a:lstStyle/>
        <a:p>
          <a:endParaRPr lang="en-US"/>
        </a:p>
      </dgm:t>
    </dgm:pt>
    <dgm:pt modelId="{135809E7-2E70-463E-A4A9-08BC85A6FE1D}" type="sibTrans" cxnId="{07066D13-ADA5-4C6B-979E-C7997CED1778}">
      <dgm:prSet/>
      <dgm:spPr/>
      <dgm:t>
        <a:bodyPr/>
        <a:lstStyle/>
        <a:p>
          <a:endParaRPr lang="en-US"/>
        </a:p>
      </dgm:t>
    </dgm:pt>
    <dgm:pt modelId="{69C8BD6E-8000-41FA-ACB9-900FE27BC93E}" type="pres">
      <dgm:prSet presAssocID="{951F9D1A-163F-4573-98EF-78B827D5C82A}" presName="Name0" presStyleCnt="0">
        <dgm:presLayoutVars>
          <dgm:dir/>
          <dgm:animLvl val="lvl"/>
          <dgm:resizeHandles/>
        </dgm:presLayoutVars>
      </dgm:prSet>
      <dgm:spPr/>
    </dgm:pt>
    <dgm:pt modelId="{24E19156-A99F-4601-8793-B7B08567591F}" type="pres">
      <dgm:prSet presAssocID="{B77C3476-5C4C-4141-B66B-A8B1B591DCCF}" presName="linNode" presStyleCnt="0"/>
      <dgm:spPr/>
    </dgm:pt>
    <dgm:pt modelId="{44959BEC-04B2-4082-8F91-8E184B46ED4B}" type="pres">
      <dgm:prSet presAssocID="{B77C3476-5C4C-4141-B66B-A8B1B591DCCF}" presName="parentShp" presStyleLbl="node1" presStyleIdx="0" presStyleCnt="2">
        <dgm:presLayoutVars>
          <dgm:bulletEnabled val="1"/>
        </dgm:presLayoutVars>
      </dgm:prSet>
      <dgm:spPr/>
    </dgm:pt>
    <dgm:pt modelId="{305F31CF-199B-40D2-844E-5A66A62C486A}" type="pres">
      <dgm:prSet presAssocID="{B77C3476-5C4C-4141-B66B-A8B1B591DCCF}" presName="childShp" presStyleLbl="bgAccFollowNode1" presStyleIdx="0" presStyleCnt="2" custLinFactNeighborX="-779" custLinFactNeighborY="31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E1A19B-2AF0-4AB3-9F9C-35119D680767}" type="pres">
      <dgm:prSet presAssocID="{86AB0655-5AEE-4762-BB10-2B91D32E6AB2}" presName="spacing" presStyleCnt="0"/>
      <dgm:spPr/>
    </dgm:pt>
    <dgm:pt modelId="{4EDBCBD0-841B-4A9B-B6E8-7D7999A6A1A5}" type="pres">
      <dgm:prSet presAssocID="{8E8C425D-8C0F-4BCF-915E-B2732E8BEB5D}" presName="linNode" presStyleCnt="0"/>
      <dgm:spPr/>
    </dgm:pt>
    <dgm:pt modelId="{7C32023A-70BA-4F05-A51A-67866B0422B0}" type="pres">
      <dgm:prSet presAssocID="{8E8C425D-8C0F-4BCF-915E-B2732E8BEB5D}" presName="parentShp" presStyleLbl="node1" presStyleIdx="1" presStyleCnt="2">
        <dgm:presLayoutVars>
          <dgm:bulletEnabled val="1"/>
        </dgm:presLayoutVars>
      </dgm:prSet>
      <dgm:spPr/>
    </dgm:pt>
    <dgm:pt modelId="{BDB8556E-4021-44E0-80BA-E6D27DFEE7F7}" type="pres">
      <dgm:prSet presAssocID="{8E8C425D-8C0F-4BCF-915E-B2732E8BEB5D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2940525-50AF-4B93-B79D-EF62D8E009BC}" type="presOf" srcId="{19411603-F0E2-481E-9E45-7B8D12E4D91D}" destId="{305F31CF-199B-40D2-844E-5A66A62C486A}" srcOrd="0" destOrd="1" presId="urn:microsoft.com/office/officeart/2005/8/layout/vList6"/>
    <dgm:cxn modelId="{90AC11C8-59BA-434A-A745-0DD8C823DDF8}" srcId="{B77C3476-5C4C-4141-B66B-A8B1B591DCCF}" destId="{9DA7D31A-A715-4E31-96E5-FE681E1B4B3B}" srcOrd="0" destOrd="0" parTransId="{497065D6-29F0-456C-9776-DBB7A9CBD09E}" sibTransId="{1C4EC10F-35F5-4E5A-8705-21E92E72B291}"/>
    <dgm:cxn modelId="{E0608C94-AEB9-403E-9B82-73B7ED32BC5A}" srcId="{8E8C425D-8C0F-4BCF-915E-B2732E8BEB5D}" destId="{2D720C9C-A574-43F5-AF00-CCC289289DD1}" srcOrd="0" destOrd="0" parTransId="{7B467FA5-0FD9-49EE-9FBE-39EC12D5C44C}" sibTransId="{34C19473-51E5-499D-91C6-CB63AA895106}"/>
    <dgm:cxn modelId="{306603FA-7B00-48A8-992D-5BF40798D249}" type="presOf" srcId="{B77C3476-5C4C-4141-B66B-A8B1B591DCCF}" destId="{44959BEC-04B2-4082-8F91-8E184B46ED4B}" srcOrd="0" destOrd="0" presId="urn:microsoft.com/office/officeart/2005/8/layout/vList6"/>
    <dgm:cxn modelId="{F52EB401-C83D-4C84-8BB5-D14A76E1F70D}" srcId="{951F9D1A-163F-4573-98EF-78B827D5C82A}" destId="{8E8C425D-8C0F-4BCF-915E-B2732E8BEB5D}" srcOrd="1" destOrd="0" parTransId="{E8856DBD-E3E8-4923-A06B-3DF74D203A71}" sibTransId="{70D0C276-367E-4695-8995-BF6C58B4286C}"/>
    <dgm:cxn modelId="{A4C07F5A-DEF6-47AC-BA6E-E4DEAA2A927C}" srcId="{951F9D1A-163F-4573-98EF-78B827D5C82A}" destId="{B77C3476-5C4C-4141-B66B-A8B1B591DCCF}" srcOrd="0" destOrd="0" parTransId="{FEE58EAD-FC90-4DFB-A16D-78ADB6C6A575}" sibTransId="{86AB0655-5AEE-4762-BB10-2B91D32E6AB2}"/>
    <dgm:cxn modelId="{12BB6810-1754-416F-9F43-0610327F2AA1}" type="presOf" srcId="{2D720C9C-A574-43F5-AF00-CCC289289DD1}" destId="{BDB8556E-4021-44E0-80BA-E6D27DFEE7F7}" srcOrd="0" destOrd="0" presId="urn:microsoft.com/office/officeart/2005/8/layout/vList6"/>
    <dgm:cxn modelId="{3073BC99-5C15-4C14-9147-31874F2A3C7B}" type="presOf" srcId="{711E9EBC-46EB-4E0A-A55D-E74ED7C44103}" destId="{BDB8556E-4021-44E0-80BA-E6D27DFEE7F7}" srcOrd="0" destOrd="1" presId="urn:microsoft.com/office/officeart/2005/8/layout/vList6"/>
    <dgm:cxn modelId="{07066D13-ADA5-4C6B-979E-C7997CED1778}" srcId="{8E8C425D-8C0F-4BCF-915E-B2732E8BEB5D}" destId="{711E9EBC-46EB-4E0A-A55D-E74ED7C44103}" srcOrd="1" destOrd="0" parTransId="{23512B00-E1CD-4994-A71B-5E2E4F77A106}" sibTransId="{135809E7-2E70-463E-A4A9-08BC85A6FE1D}"/>
    <dgm:cxn modelId="{F315251B-7A5D-45E0-A5D2-E67C3F465806}" type="presOf" srcId="{9DA7D31A-A715-4E31-96E5-FE681E1B4B3B}" destId="{305F31CF-199B-40D2-844E-5A66A62C486A}" srcOrd="0" destOrd="0" presId="urn:microsoft.com/office/officeart/2005/8/layout/vList6"/>
    <dgm:cxn modelId="{79D250C2-1AD9-4A72-BE2B-A0C2B8D76478}" type="presOf" srcId="{8E8C425D-8C0F-4BCF-915E-B2732E8BEB5D}" destId="{7C32023A-70BA-4F05-A51A-67866B0422B0}" srcOrd="0" destOrd="0" presId="urn:microsoft.com/office/officeart/2005/8/layout/vList6"/>
    <dgm:cxn modelId="{1E5FFD0F-C084-41E3-8BE3-B780C3A5765D}" type="presOf" srcId="{951F9D1A-163F-4573-98EF-78B827D5C82A}" destId="{69C8BD6E-8000-41FA-ACB9-900FE27BC93E}" srcOrd="0" destOrd="0" presId="urn:microsoft.com/office/officeart/2005/8/layout/vList6"/>
    <dgm:cxn modelId="{7483413C-841D-4665-8722-26BA87F4B494}" srcId="{B77C3476-5C4C-4141-B66B-A8B1B591DCCF}" destId="{19411603-F0E2-481E-9E45-7B8D12E4D91D}" srcOrd="1" destOrd="0" parTransId="{437C519C-E7ED-4E62-B66F-A6AF8199CA46}" sibTransId="{1CADF387-C004-4F1C-A1DB-C3F2E89B65A4}"/>
    <dgm:cxn modelId="{07DD22B4-6101-4DC0-9538-C6206A89CD63}" type="presParOf" srcId="{69C8BD6E-8000-41FA-ACB9-900FE27BC93E}" destId="{24E19156-A99F-4601-8793-B7B08567591F}" srcOrd="0" destOrd="0" presId="urn:microsoft.com/office/officeart/2005/8/layout/vList6"/>
    <dgm:cxn modelId="{07A8EAC2-DB7D-4413-A79C-D0A53CF75E33}" type="presParOf" srcId="{24E19156-A99F-4601-8793-B7B08567591F}" destId="{44959BEC-04B2-4082-8F91-8E184B46ED4B}" srcOrd="0" destOrd="0" presId="urn:microsoft.com/office/officeart/2005/8/layout/vList6"/>
    <dgm:cxn modelId="{1C3D64E4-EE66-4924-90EC-6BF4227475E0}" type="presParOf" srcId="{24E19156-A99F-4601-8793-B7B08567591F}" destId="{305F31CF-199B-40D2-844E-5A66A62C486A}" srcOrd="1" destOrd="0" presId="urn:microsoft.com/office/officeart/2005/8/layout/vList6"/>
    <dgm:cxn modelId="{57280985-AF29-42BD-AF3A-D286F741DF67}" type="presParOf" srcId="{69C8BD6E-8000-41FA-ACB9-900FE27BC93E}" destId="{1CE1A19B-2AF0-4AB3-9F9C-35119D680767}" srcOrd="1" destOrd="0" presId="urn:microsoft.com/office/officeart/2005/8/layout/vList6"/>
    <dgm:cxn modelId="{D73A9769-078D-446A-9F88-A494D0CB4699}" type="presParOf" srcId="{69C8BD6E-8000-41FA-ACB9-900FE27BC93E}" destId="{4EDBCBD0-841B-4A9B-B6E8-7D7999A6A1A5}" srcOrd="2" destOrd="0" presId="urn:microsoft.com/office/officeart/2005/8/layout/vList6"/>
    <dgm:cxn modelId="{8DE7AAEE-062A-4ABA-9100-8DBC300FA8C1}" type="presParOf" srcId="{4EDBCBD0-841B-4A9B-B6E8-7D7999A6A1A5}" destId="{7C32023A-70BA-4F05-A51A-67866B0422B0}" srcOrd="0" destOrd="0" presId="urn:microsoft.com/office/officeart/2005/8/layout/vList6"/>
    <dgm:cxn modelId="{04F3E886-E7B1-4A98-8080-B465C76D0873}" type="presParOf" srcId="{4EDBCBD0-841B-4A9B-B6E8-7D7999A6A1A5}" destId="{BDB8556E-4021-44E0-80BA-E6D27DFEE7F7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F31CF-199B-40D2-844E-5A66A62C486A}">
      <dsp:nvSpPr>
        <dsp:cNvPr id="0" name=""/>
        <dsp:cNvSpPr/>
      </dsp:nvSpPr>
      <dsp:spPr>
        <a:xfrm>
          <a:off x="2993562" y="83911"/>
          <a:ext cx="4525597" cy="26532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/>
            <a:t>Transaksi</a:t>
          </a:r>
          <a:r>
            <a:rPr lang="en-US" sz="2100" kern="1200" dirty="0" smtClean="0"/>
            <a:t> yang </a:t>
          </a:r>
          <a:r>
            <a:rPr lang="en-US" sz="2100" kern="1200" dirty="0" err="1" smtClean="0"/>
            <a:t>berhubungan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secara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langsung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dalam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produksi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/>
            <a:t>Biaya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Produksi</a:t>
          </a:r>
          <a:r>
            <a:rPr lang="en-US" sz="2100" kern="1200" dirty="0" smtClean="0"/>
            <a:t> (</a:t>
          </a:r>
          <a:r>
            <a:rPr lang="en-US" sz="2100" kern="1200" dirty="0" err="1" smtClean="0"/>
            <a:t>bahan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baku</a:t>
          </a:r>
          <a:r>
            <a:rPr lang="en-US" sz="2100" kern="1200" dirty="0" smtClean="0"/>
            <a:t>, SDM, </a:t>
          </a:r>
          <a:r>
            <a:rPr lang="en-US" sz="2100" kern="1200" dirty="0" err="1" smtClean="0"/>
            <a:t>hibah</a:t>
          </a:r>
          <a:r>
            <a:rPr lang="en-US" sz="2100" kern="1200" dirty="0" smtClean="0"/>
            <a:t>, </a:t>
          </a:r>
          <a:r>
            <a:rPr lang="en-US" sz="2100" kern="1200" dirty="0" err="1" smtClean="0"/>
            <a:t>kontrak</a:t>
          </a:r>
          <a:r>
            <a:rPr lang="en-US" sz="2100" kern="1200" dirty="0" smtClean="0"/>
            <a:t>, </a:t>
          </a:r>
          <a:r>
            <a:rPr lang="en-US" sz="2100" kern="1200" dirty="0" err="1" smtClean="0"/>
            <a:t>proyek</a:t>
          </a:r>
          <a:r>
            <a:rPr lang="en-US" sz="2100" kern="1200" dirty="0" smtClean="0"/>
            <a:t>, </a:t>
          </a:r>
          <a:r>
            <a:rPr lang="en-US" sz="2100" kern="1200" dirty="0" err="1" smtClean="0"/>
            <a:t>fungsi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atau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kegiatan</a:t>
          </a:r>
          <a:endParaRPr lang="en-US" sz="2100" kern="1200" dirty="0"/>
        </a:p>
      </dsp:txBody>
      <dsp:txXfrm>
        <a:off x="2993562" y="415564"/>
        <a:ext cx="3530638" cy="1989917"/>
      </dsp:txXfrm>
    </dsp:sp>
    <dsp:sp modelId="{44959BEC-04B2-4082-8F91-8E184B46ED4B}">
      <dsp:nvSpPr>
        <dsp:cNvPr id="0" name=""/>
        <dsp:cNvSpPr/>
      </dsp:nvSpPr>
      <dsp:spPr>
        <a:xfrm>
          <a:off x="0" y="680"/>
          <a:ext cx="3017065" cy="2653223"/>
        </a:xfrm>
        <a:prstGeom prst="round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err="1" smtClean="0"/>
            <a:t>Biaya</a:t>
          </a:r>
          <a:r>
            <a:rPr lang="en-US" sz="4800" kern="1200" dirty="0" smtClean="0"/>
            <a:t> </a:t>
          </a:r>
          <a:r>
            <a:rPr lang="en-US" sz="4800" kern="1200" dirty="0" err="1" smtClean="0"/>
            <a:t>Langsung</a:t>
          </a:r>
          <a:endParaRPr lang="en-US" sz="4800" kern="1200" dirty="0"/>
        </a:p>
      </dsp:txBody>
      <dsp:txXfrm>
        <a:off x="129520" y="130200"/>
        <a:ext cx="2758025" cy="2394183"/>
      </dsp:txXfrm>
    </dsp:sp>
    <dsp:sp modelId="{BDB8556E-4021-44E0-80BA-E6D27DFEE7F7}">
      <dsp:nvSpPr>
        <dsp:cNvPr id="0" name=""/>
        <dsp:cNvSpPr/>
      </dsp:nvSpPr>
      <dsp:spPr>
        <a:xfrm>
          <a:off x="3017065" y="2919226"/>
          <a:ext cx="4525597" cy="26532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/>
            <a:t>Biaya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pendukung</a:t>
          </a:r>
          <a:r>
            <a:rPr lang="en-US" sz="2100" kern="1200" dirty="0" smtClean="0"/>
            <a:t> (</a:t>
          </a:r>
          <a:r>
            <a:rPr lang="en-US" sz="2100" kern="1200" dirty="0" err="1" smtClean="0"/>
            <a:t>keberadaannya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timbul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sebagai</a:t>
          </a:r>
          <a:r>
            <a:rPr lang="en-US" sz="2100" kern="1200" dirty="0" smtClean="0"/>
            <a:t> 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b="0" i="0" kern="1200" dirty="0" err="1" smtClean="0"/>
            <a:t>Biaya</a:t>
          </a:r>
          <a:r>
            <a:rPr lang="en-US" sz="2100" b="0" i="0" kern="1200" dirty="0" smtClean="0"/>
            <a:t> overhead </a:t>
          </a:r>
          <a:r>
            <a:rPr lang="en-US" sz="2100" b="0" i="0" kern="1200" dirty="0" err="1" smtClean="0"/>
            <a:t>kewirauahaan</a:t>
          </a:r>
          <a:r>
            <a:rPr lang="en-US" sz="2100" b="0" i="0" kern="1200" dirty="0" smtClean="0"/>
            <a:t>, </a:t>
          </a:r>
          <a:r>
            <a:rPr lang="en-US" sz="2100" b="0" i="0" kern="1200" dirty="0" err="1" smtClean="0"/>
            <a:t>asuransi</a:t>
          </a:r>
          <a:r>
            <a:rPr lang="en-US" sz="2100" b="0" i="0" kern="1200" dirty="0" smtClean="0"/>
            <a:t>, </a:t>
          </a:r>
          <a:r>
            <a:rPr lang="en-US" sz="2100" b="0" i="0" kern="1200" dirty="0" err="1" smtClean="0"/>
            <a:t>listrik</a:t>
          </a:r>
          <a:r>
            <a:rPr lang="en-US" sz="2100" b="0" i="0" kern="1200" dirty="0" smtClean="0"/>
            <a:t>, </a:t>
          </a:r>
          <a:r>
            <a:rPr lang="en-US" sz="2100" b="0" i="0" kern="1200" dirty="0" err="1" smtClean="0"/>
            <a:t>penjualan</a:t>
          </a:r>
          <a:r>
            <a:rPr lang="en-US" sz="2100" b="0" i="0" kern="1200" dirty="0" smtClean="0"/>
            <a:t>, </a:t>
          </a:r>
          <a:r>
            <a:rPr lang="en-US" sz="2100" b="0" i="0" kern="1200" dirty="0" err="1" smtClean="0"/>
            <a:t>administrasi</a:t>
          </a:r>
          <a:endParaRPr lang="en-US" sz="2100" kern="1200" dirty="0"/>
        </a:p>
      </dsp:txBody>
      <dsp:txXfrm>
        <a:off x="3017065" y="3250879"/>
        <a:ext cx="3530638" cy="1989917"/>
      </dsp:txXfrm>
    </dsp:sp>
    <dsp:sp modelId="{7C32023A-70BA-4F05-A51A-67866B0422B0}">
      <dsp:nvSpPr>
        <dsp:cNvPr id="0" name=""/>
        <dsp:cNvSpPr/>
      </dsp:nvSpPr>
      <dsp:spPr>
        <a:xfrm>
          <a:off x="0" y="2919226"/>
          <a:ext cx="3017065" cy="2653223"/>
        </a:xfrm>
        <a:prstGeom prst="roundRect">
          <a:avLst/>
        </a:prstGeom>
        <a:solidFill>
          <a:schemeClr val="accent4">
            <a:shade val="80000"/>
            <a:hueOff val="-176558"/>
            <a:satOff val="-4365"/>
            <a:lumOff val="249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err="1" smtClean="0"/>
            <a:t>Biaya</a:t>
          </a:r>
          <a:r>
            <a:rPr lang="en-US" sz="4800" kern="1200" dirty="0" smtClean="0"/>
            <a:t> </a:t>
          </a:r>
          <a:r>
            <a:rPr lang="en-US" sz="4800" kern="1200" dirty="0" err="1" smtClean="0"/>
            <a:t>Tidak</a:t>
          </a:r>
          <a:r>
            <a:rPr lang="en-US" sz="4800" kern="1200" dirty="0" smtClean="0"/>
            <a:t> </a:t>
          </a:r>
          <a:r>
            <a:rPr lang="en-US" sz="4800" kern="1200" dirty="0" err="1" smtClean="0"/>
            <a:t>Langsung</a:t>
          </a:r>
          <a:endParaRPr lang="en-US" sz="4800" kern="1200" dirty="0"/>
        </a:p>
      </dsp:txBody>
      <dsp:txXfrm>
        <a:off x="129520" y="3048746"/>
        <a:ext cx="2758025" cy="23941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EFA99-4D6F-4EE9-8E49-CC8E24A02213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ADAEB-C1B2-4B3E-869D-10AE8192F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31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56EE-E5DE-4FF6-81FC-5440D24D9A7F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C1A9-F17B-446E-B20E-83D086AE605E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DE11-B57E-40F0-9886-C918C02A8B6A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45D2-EE6F-44A2-A2A7-61767A4D6C59}" type="datetime1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410F-E6D8-455D-B4E6-FEA643EA6AD1}" type="datetime1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F5C6-0283-43C0-8827-75ADE6770C42}" type="datetime1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8EDA-B39B-442B-BA2A-A6E2DFC604FB}" type="datetime1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1481-3652-4147-B704-DC7264A7204F}" type="datetime1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6549-9658-4211-8F17-B967545595F1}" type="datetime1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3D13-3FA1-43C2-BB2F-01416C6818D1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7536-C456-4FC6-BEA3-E8B4B4439AAD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61762-3AF3-4A0A-8F37-38110A62F7E0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anna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28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r="-3968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46962" y="4131361"/>
            <a:ext cx="4996443" cy="4750680"/>
            <a:chOff x="0" y="0"/>
            <a:chExt cx="1293983" cy="12303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3983" cy="1230335"/>
            </a:xfrm>
            <a:custGeom>
              <a:avLst/>
              <a:gdLst/>
              <a:ahLst/>
              <a:cxnLst/>
              <a:rect l="l" t="t" r="r" b="b"/>
              <a:pathLst>
                <a:path w="1293983" h="1230335">
                  <a:moveTo>
                    <a:pt x="646992" y="0"/>
                  </a:moveTo>
                  <a:cubicBezTo>
                    <a:pt x="289668" y="0"/>
                    <a:pt x="0" y="275420"/>
                    <a:pt x="0" y="615167"/>
                  </a:cubicBezTo>
                  <a:cubicBezTo>
                    <a:pt x="0" y="954915"/>
                    <a:pt x="289668" y="1230335"/>
                    <a:pt x="646992" y="1230335"/>
                  </a:cubicBezTo>
                  <a:cubicBezTo>
                    <a:pt x="1004315" y="1230335"/>
                    <a:pt x="1293983" y="954915"/>
                    <a:pt x="1293983" y="615167"/>
                  </a:cubicBezTo>
                  <a:cubicBezTo>
                    <a:pt x="1293983" y="275420"/>
                    <a:pt x="1004315" y="0"/>
                    <a:pt x="646992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1311" y="77244"/>
              <a:ext cx="1051361" cy="1037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724007" y="5963633"/>
            <a:ext cx="7854157" cy="7627620"/>
            <a:chOff x="0" y="0"/>
            <a:chExt cx="1027471" cy="9978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7471" cy="997836"/>
            </a:xfrm>
            <a:custGeom>
              <a:avLst/>
              <a:gdLst/>
              <a:ahLst/>
              <a:cxnLst/>
              <a:rect l="l" t="t" r="r" b="b"/>
              <a:pathLst>
                <a:path w="1027471" h="997836">
                  <a:moveTo>
                    <a:pt x="513735" y="0"/>
                  </a:moveTo>
                  <a:cubicBezTo>
                    <a:pt x="230007" y="0"/>
                    <a:pt x="0" y="223373"/>
                    <a:pt x="0" y="498918"/>
                  </a:cubicBezTo>
                  <a:cubicBezTo>
                    <a:pt x="0" y="774463"/>
                    <a:pt x="230007" y="997836"/>
                    <a:pt x="513735" y="997836"/>
                  </a:cubicBezTo>
                  <a:cubicBezTo>
                    <a:pt x="797464" y="997836"/>
                    <a:pt x="1027471" y="774463"/>
                    <a:pt x="1027471" y="498918"/>
                  </a:cubicBezTo>
                  <a:cubicBezTo>
                    <a:pt x="1027471" y="223373"/>
                    <a:pt x="797464" y="0"/>
                    <a:pt x="513735" y="0"/>
                  </a:cubicBezTo>
                  <a:close/>
                </a:path>
              </a:pathLst>
            </a:custGeom>
            <a:solidFill>
              <a:srgbClr val="124A8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96325" y="55447"/>
              <a:ext cx="834820" cy="848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744293" y="-2576106"/>
            <a:ext cx="7203777" cy="5740737"/>
            <a:chOff x="0" y="0"/>
            <a:chExt cx="1019944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9944" cy="812800"/>
            </a:xfrm>
            <a:custGeom>
              <a:avLst/>
              <a:gdLst/>
              <a:ahLst/>
              <a:cxnLst/>
              <a:rect l="l" t="t" r="r" b="b"/>
              <a:pathLst>
                <a:path w="1019944" h="812800">
                  <a:moveTo>
                    <a:pt x="509972" y="0"/>
                  </a:moveTo>
                  <a:cubicBezTo>
                    <a:pt x="228322" y="0"/>
                    <a:pt x="0" y="181951"/>
                    <a:pt x="0" y="406400"/>
                  </a:cubicBezTo>
                  <a:cubicBezTo>
                    <a:pt x="0" y="630849"/>
                    <a:pt x="228322" y="812800"/>
                    <a:pt x="509972" y="812800"/>
                  </a:cubicBezTo>
                  <a:cubicBezTo>
                    <a:pt x="791622" y="812800"/>
                    <a:pt x="1019944" y="630849"/>
                    <a:pt x="1019944" y="406400"/>
                  </a:cubicBezTo>
                  <a:cubicBezTo>
                    <a:pt x="1019944" y="181951"/>
                    <a:pt x="791622" y="0"/>
                    <a:pt x="509972" y="0"/>
                  </a:cubicBezTo>
                  <a:close/>
                </a:path>
              </a:pathLst>
            </a:custGeom>
            <a:solidFill>
              <a:srgbClr val="124A8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95620" y="38100"/>
              <a:ext cx="828704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4893" y="1030836"/>
            <a:ext cx="8225327" cy="8225327"/>
          </a:xfrm>
          <a:custGeom>
            <a:avLst/>
            <a:gdLst/>
            <a:ahLst/>
            <a:cxnLst/>
            <a:rect l="l" t="t" r="r" b="b"/>
            <a:pathLst>
              <a:path w="8225327" h="8225327">
                <a:moveTo>
                  <a:pt x="0" y="0"/>
                </a:moveTo>
                <a:lnTo>
                  <a:pt x="8225327" y="0"/>
                </a:lnTo>
                <a:lnTo>
                  <a:pt x="8225327" y="8225328"/>
                </a:lnTo>
                <a:lnTo>
                  <a:pt x="0" y="8225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-964351" y="3536512"/>
            <a:ext cx="6637719" cy="3318859"/>
          </a:xfrm>
          <a:custGeom>
            <a:avLst/>
            <a:gdLst/>
            <a:ahLst/>
            <a:cxnLst/>
            <a:rect l="l" t="t" r="r" b="b"/>
            <a:pathLst>
              <a:path w="6637719" h="3318859">
                <a:moveTo>
                  <a:pt x="0" y="0"/>
                </a:moveTo>
                <a:lnTo>
                  <a:pt x="6637718" y="0"/>
                </a:lnTo>
                <a:lnTo>
                  <a:pt x="6637718" y="3318859"/>
                </a:lnTo>
                <a:lnTo>
                  <a:pt x="0" y="3318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5400000">
            <a:off x="2426034" y="3459994"/>
            <a:ext cx="6651061" cy="3458552"/>
          </a:xfrm>
          <a:custGeom>
            <a:avLst/>
            <a:gdLst/>
            <a:ahLst/>
            <a:cxnLst/>
            <a:rect l="l" t="t" r="r" b="b"/>
            <a:pathLst>
              <a:path w="6651061" h="3458552">
                <a:moveTo>
                  <a:pt x="0" y="0"/>
                </a:moveTo>
                <a:lnTo>
                  <a:pt x="6651061" y="0"/>
                </a:lnTo>
                <a:lnTo>
                  <a:pt x="6651061" y="3458552"/>
                </a:lnTo>
                <a:lnTo>
                  <a:pt x="0" y="34585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01758" y="1686917"/>
            <a:ext cx="6404641" cy="6404641"/>
          </a:xfrm>
          <a:custGeom>
            <a:avLst/>
            <a:gdLst/>
            <a:ahLst/>
            <a:cxnLst/>
            <a:rect l="l" t="t" r="r" b="b"/>
            <a:pathLst>
              <a:path w="6404641" h="6404641">
                <a:moveTo>
                  <a:pt x="0" y="0"/>
                </a:moveTo>
                <a:lnTo>
                  <a:pt x="6404641" y="0"/>
                </a:lnTo>
                <a:lnTo>
                  <a:pt x="6404641" y="6404641"/>
                </a:lnTo>
                <a:lnTo>
                  <a:pt x="0" y="640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32092" y="2296990"/>
            <a:ext cx="5616761" cy="2808381"/>
          </a:xfrm>
          <a:custGeom>
            <a:avLst/>
            <a:gdLst/>
            <a:ahLst/>
            <a:cxnLst/>
            <a:rect l="l" t="t" r="r" b="b"/>
            <a:pathLst>
              <a:path w="5616761" h="2808381">
                <a:moveTo>
                  <a:pt x="0" y="0"/>
                </a:moveTo>
                <a:lnTo>
                  <a:pt x="5616762" y="0"/>
                </a:lnTo>
                <a:lnTo>
                  <a:pt x="5616762" y="2808381"/>
                </a:lnTo>
                <a:lnTo>
                  <a:pt x="0" y="28083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>
            <a:off x="2203071" y="6885441"/>
            <a:ext cx="3621733" cy="1512074"/>
          </a:xfrm>
          <a:custGeom>
            <a:avLst/>
            <a:gdLst/>
            <a:ahLst/>
            <a:cxnLst/>
            <a:rect l="l" t="t" r="r" b="b"/>
            <a:pathLst>
              <a:path w="3621733" h="1512074">
                <a:moveTo>
                  <a:pt x="0" y="0"/>
                </a:moveTo>
                <a:lnTo>
                  <a:pt x="3621733" y="0"/>
                </a:lnTo>
                <a:lnTo>
                  <a:pt x="3621733" y="1512074"/>
                </a:lnTo>
                <a:lnTo>
                  <a:pt x="0" y="15120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-1026495" y="2561143"/>
            <a:ext cx="1721573" cy="1636893"/>
            <a:chOff x="0" y="0"/>
            <a:chExt cx="1293983" cy="12303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3983" cy="1230335"/>
            </a:xfrm>
            <a:custGeom>
              <a:avLst/>
              <a:gdLst/>
              <a:ahLst/>
              <a:cxnLst/>
              <a:rect l="l" t="t" r="r" b="b"/>
              <a:pathLst>
                <a:path w="1293983" h="1230335">
                  <a:moveTo>
                    <a:pt x="646992" y="0"/>
                  </a:moveTo>
                  <a:cubicBezTo>
                    <a:pt x="289668" y="0"/>
                    <a:pt x="0" y="275420"/>
                    <a:pt x="0" y="615167"/>
                  </a:cubicBezTo>
                  <a:cubicBezTo>
                    <a:pt x="0" y="954915"/>
                    <a:pt x="289668" y="1230335"/>
                    <a:pt x="646992" y="1230335"/>
                  </a:cubicBezTo>
                  <a:cubicBezTo>
                    <a:pt x="1004315" y="1230335"/>
                    <a:pt x="1293983" y="954915"/>
                    <a:pt x="1293983" y="615167"/>
                  </a:cubicBezTo>
                  <a:cubicBezTo>
                    <a:pt x="1293983" y="275420"/>
                    <a:pt x="1004315" y="0"/>
                    <a:pt x="646992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1311" y="77244"/>
              <a:ext cx="1051361" cy="1037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52293" y="9468554"/>
            <a:ext cx="1721573" cy="1636893"/>
            <a:chOff x="0" y="0"/>
            <a:chExt cx="1293983" cy="12303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93983" cy="1230335"/>
            </a:xfrm>
            <a:custGeom>
              <a:avLst/>
              <a:gdLst/>
              <a:ahLst/>
              <a:cxnLst/>
              <a:rect l="l" t="t" r="r" b="b"/>
              <a:pathLst>
                <a:path w="1293983" h="1230335">
                  <a:moveTo>
                    <a:pt x="646992" y="0"/>
                  </a:moveTo>
                  <a:cubicBezTo>
                    <a:pt x="289668" y="0"/>
                    <a:pt x="0" y="275420"/>
                    <a:pt x="0" y="615167"/>
                  </a:cubicBezTo>
                  <a:cubicBezTo>
                    <a:pt x="0" y="954915"/>
                    <a:pt x="289668" y="1230335"/>
                    <a:pt x="646992" y="1230335"/>
                  </a:cubicBezTo>
                  <a:cubicBezTo>
                    <a:pt x="1004315" y="1230335"/>
                    <a:pt x="1293983" y="954915"/>
                    <a:pt x="1293983" y="615167"/>
                  </a:cubicBezTo>
                  <a:cubicBezTo>
                    <a:pt x="1293983" y="275420"/>
                    <a:pt x="1004315" y="0"/>
                    <a:pt x="646992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1311" y="77244"/>
              <a:ext cx="1051361" cy="1037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2564864" y="3970594"/>
            <a:ext cx="2914848" cy="2914848"/>
          </a:xfrm>
          <a:custGeom>
            <a:avLst/>
            <a:gdLst/>
            <a:ahLst/>
            <a:cxnLst/>
            <a:rect l="l" t="t" r="r" b="b"/>
            <a:pathLst>
              <a:path w="2914848" h="2914848">
                <a:moveTo>
                  <a:pt x="0" y="0"/>
                </a:moveTo>
                <a:lnTo>
                  <a:pt x="2914848" y="0"/>
                </a:lnTo>
                <a:lnTo>
                  <a:pt x="2914848" y="2914847"/>
                </a:lnTo>
                <a:lnTo>
                  <a:pt x="0" y="29148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345184" y="1997089"/>
            <a:ext cx="11523059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511"/>
              </a:lnSpc>
            </a:pPr>
            <a:endParaRPr dirty="0"/>
          </a:p>
          <a:p>
            <a:pPr algn="r">
              <a:lnSpc>
                <a:spcPts val="8511"/>
              </a:lnSpc>
            </a:pPr>
            <a:r>
              <a:rPr lang="en-US" sz="6600" dirty="0">
                <a:solidFill>
                  <a:srgbClr val="7030A0"/>
                </a:solidFill>
                <a:latin typeface="Poppins Bold"/>
              </a:rPr>
              <a:t> </a:t>
            </a:r>
            <a:r>
              <a:rPr lang="en-US" sz="6600" dirty="0">
                <a:solidFill>
                  <a:srgbClr val="7030A0"/>
                </a:solidFill>
                <a:latin typeface="Poppins Bold"/>
              </a:rPr>
              <a:t> Cost </a:t>
            </a:r>
            <a:r>
              <a:rPr lang="en-US" sz="6600" dirty="0" smtClean="0">
                <a:solidFill>
                  <a:srgbClr val="7030A0"/>
                </a:solidFill>
                <a:latin typeface="Poppins Bold"/>
              </a:rPr>
              <a:t>Structure</a:t>
            </a:r>
          </a:p>
          <a:p>
            <a:pPr algn="r">
              <a:lnSpc>
                <a:spcPts val="8511"/>
              </a:lnSpc>
            </a:pPr>
            <a:r>
              <a:rPr lang="en-US" sz="6600" dirty="0" smtClean="0">
                <a:solidFill>
                  <a:srgbClr val="7030A0"/>
                </a:solidFill>
                <a:latin typeface="Poppins Bold"/>
              </a:rPr>
              <a:t>(Financial </a:t>
            </a:r>
            <a:r>
              <a:rPr lang="en-US" sz="6600" dirty="0">
                <a:solidFill>
                  <a:srgbClr val="7030A0"/>
                </a:solidFill>
                <a:latin typeface="Poppins Bold"/>
              </a:rPr>
              <a:t>Management</a:t>
            </a:r>
            <a:r>
              <a:rPr lang="en-US" sz="6600" dirty="0" smtClean="0">
                <a:solidFill>
                  <a:srgbClr val="7030A0"/>
                </a:solidFill>
                <a:latin typeface="Poppins Bold"/>
              </a:rPr>
              <a:t>)</a:t>
            </a:r>
            <a:endParaRPr lang="en-US" sz="6600" dirty="0">
              <a:solidFill>
                <a:srgbClr val="7030A0"/>
              </a:solidFill>
              <a:latin typeface="Poppi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599533" y="5717086"/>
            <a:ext cx="7932338" cy="3123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200" dirty="0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Anna</a:t>
            </a:r>
          </a:p>
          <a:p>
            <a:pPr algn="ctr">
              <a:spcBef>
                <a:spcPct val="0"/>
              </a:spcBef>
            </a:pPr>
            <a:r>
              <a:rPr lang="en-US" sz="3200" dirty="0" err="1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Manajemen</a:t>
            </a:r>
            <a:r>
              <a:rPr lang="en-US" sz="3200" dirty="0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 </a:t>
            </a:r>
            <a:r>
              <a:rPr lang="en-US" sz="3200" dirty="0" err="1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Rekayasa</a:t>
            </a:r>
            <a:endParaRPr lang="en-US" sz="3200" dirty="0" smtClean="0">
              <a:solidFill>
                <a:srgbClr val="7030A0"/>
              </a:solidFill>
              <a:latin typeface="Bauhaus 93" panose="04030905020B02020C02" pitchFamily="82" charset="0"/>
              <a:cs typeface="MV Boli" panose="02000500030200090000" pitchFamily="2" charset="0"/>
            </a:endParaRPr>
          </a:p>
          <a:p>
            <a:pPr algn="ctr">
              <a:spcBef>
                <a:spcPct val="0"/>
              </a:spcBef>
            </a:pPr>
            <a:r>
              <a:rPr lang="en-US" sz="3200" dirty="0" err="1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Fakultas</a:t>
            </a:r>
            <a:r>
              <a:rPr lang="en-US" sz="3200" dirty="0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 </a:t>
            </a:r>
            <a:r>
              <a:rPr lang="en-US" sz="3200" dirty="0" err="1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Teknologi</a:t>
            </a:r>
            <a:r>
              <a:rPr lang="en-US" sz="3200" dirty="0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 </a:t>
            </a:r>
            <a:r>
              <a:rPr lang="en-US" sz="3200" dirty="0" err="1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Industri</a:t>
            </a:r>
            <a:endParaRPr lang="en-US" sz="3200" dirty="0" smtClean="0">
              <a:solidFill>
                <a:srgbClr val="7030A0"/>
              </a:solidFill>
              <a:latin typeface="Bauhaus 93" panose="04030905020B02020C02" pitchFamily="82" charset="0"/>
              <a:cs typeface="MV Boli" panose="02000500030200090000" pitchFamily="2" charset="0"/>
            </a:endParaRPr>
          </a:p>
          <a:p>
            <a:pPr algn="ctr">
              <a:spcBef>
                <a:spcPct val="0"/>
              </a:spcBef>
            </a:pPr>
            <a:r>
              <a:rPr lang="en-US" sz="3200" dirty="0" err="1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Institut</a:t>
            </a:r>
            <a:r>
              <a:rPr lang="en-US" sz="3200" dirty="0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 </a:t>
            </a:r>
            <a:r>
              <a:rPr lang="en-US" sz="3200" dirty="0" err="1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Teknologi</a:t>
            </a:r>
            <a:r>
              <a:rPr lang="en-US" sz="3200" dirty="0" smtClean="0">
                <a:solidFill>
                  <a:srgbClr val="7030A0"/>
                </a:solidFill>
                <a:latin typeface="Bauhaus 93" panose="04030905020B02020C02" pitchFamily="82" charset="0"/>
                <a:cs typeface="MV Boli" panose="02000500030200090000" pitchFamily="2" charset="0"/>
              </a:rPr>
              <a:t> Del</a:t>
            </a:r>
          </a:p>
          <a:p>
            <a:pPr algn="ctr">
              <a:lnSpc>
                <a:spcPts val="9036"/>
              </a:lnSpc>
              <a:spcBef>
                <a:spcPct val="0"/>
              </a:spcBef>
            </a:pPr>
            <a:endParaRPr lang="en-US" sz="1600" dirty="0">
              <a:solidFill>
                <a:srgbClr val="000000"/>
              </a:solidFill>
              <a:latin typeface="Poppi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444876" y="3170216"/>
            <a:ext cx="11734328" cy="415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5400" dirty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5400" dirty="0" smtClean="0">
                <a:solidFill>
                  <a:srgbClr val="7030A0"/>
                </a:solidFill>
                <a:latin typeface="Poppins Ultra-Bold"/>
              </a:rPr>
              <a:t>Direct </a:t>
            </a:r>
            <a:r>
              <a:rPr lang="en-US" sz="5400" dirty="0">
                <a:solidFill>
                  <a:srgbClr val="7030A0"/>
                </a:solidFill>
                <a:latin typeface="Poppins Ultra-Bold"/>
              </a:rPr>
              <a:t>and Indirect Cost</a:t>
            </a:r>
          </a:p>
          <a:p>
            <a:pPr marL="685800" indent="-68580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5400" dirty="0" err="1" smtClean="0">
                <a:solidFill>
                  <a:srgbClr val="7030A0"/>
                </a:solidFill>
                <a:latin typeface="Poppins Ultra-Bold"/>
              </a:rPr>
              <a:t>Biaya</a:t>
            </a:r>
            <a:r>
              <a:rPr lang="en-US" sz="5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5400" dirty="0" err="1">
                <a:solidFill>
                  <a:srgbClr val="7030A0"/>
                </a:solidFill>
                <a:latin typeface="Poppins Ultra-Bold"/>
              </a:rPr>
              <a:t>tetap</a:t>
            </a:r>
            <a:r>
              <a:rPr lang="en-US" sz="5400" dirty="0">
                <a:solidFill>
                  <a:srgbClr val="7030A0"/>
                </a:solidFill>
                <a:latin typeface="Poppins Ultra-Bold"/>
              </a:rPr>
              <a:t> (fixed cost) </a:t>
            </a:r>
            <a:r>
              <a:rPr lang="en-US" sz="5400" dirty="0" err="1">
                <a:solidFill>
                  <a:srgbClr val="7030A0"/>
                </a:solidFill>
                <a:latin typeface="Poppins Ultra-Bold"/>
              </a:rPr>
              <a:t>dan</a:t>
            </a:r>
            <a:r>
              <a:rPr lang="en-US" sz="5400" dirty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5400" dirty="0" err="1">
                <a:solidFill>
                  <a:srgbClr val="7030A0"/>
                </a:solidFill>
                <a:latin typeface="Poppins Ultra-Bold"/>
              </a:rPr>
              <a:t>biaya</a:t>
            </a:r>
            <a:r>
              <a:rPr lang="en-US" sz="5400" dirty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5400" dirty="0" err="1">
                <a:solidFill>
                  <a:srgbClr val="7030A0"/>
                </a:solidFill>
                <a:latin typeface="Poppins Ultra-Bold"/>
              </a:rPr>
              <a:t>variabel</a:t>
            </a:r>
            <a:r>
              <a:rPr lang="en-US" sz="5400" dirty="0">
                <a:solidFill>
                  <a:srgbClr val="7030A0"/>
                </a:solidFill>
                <a:latin typeface="Poppins Ultra-Bold"/>
              </a:rPr>
              <a:t> (variable cost)</a:t>
            </a:r>
          </a:p>
          <a:p>
            <a:pPr marL="685800" indent="-68580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5400" dirty="0" smtClean="0">
                <a:solidFill>
                  <a:srgbClr val="7030A0"/>
                </a:solidFill>
                <a:latin typeface="Poppins Ultra-Bold"/>
              </a:rPr>
              <a:t>Risk </a:t>
            </a:r>
            <a:r>
              <a:rPr lang="en-US" sz="5400" dirty="0">
                <a:solidFill>
                  <a:srgbClr val="7030A0"/>
                </a:solidFill>
                <a:latin typeface="Poppins Ultra-Bold"/>
              </a:rPr>
              <a:t>Management</a:t>
            </a:r>
          </a:p>
          <a:p>
            <a:pPr marL="685800" indent="-68580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5400" dirty="0" smtClean="0">
                <a:solidFill>
                  <a:srgbClr val="7030A0"/>
                </a:solidFill>
                <a:latin typeface="Poppins Ultra-Bold"/>
              </a:rPr>
              <a:t>Laporan </a:t>
            </a:r>
            <a:r>
              <a:rPr lang="en-US" sz="5400" dirty="0" err="1" smtClean="0">
                <a:solidFill>
                  <a:srgbClr val="7030A0"/>
                </a:solidFill>
                <a:latin typeface="Poppins Ultra-Bold"/>
              </a:rPr>
              <a:t>Keuangan</a:t>
            </a:r>
            <a:endParaRPr lang="en-US" sz="5400" dirty="0">
              <a:solidFill>
                <a:srgbClr val="7030A0"/>
              </a:solidFill>
              <a:latin typeface="Poppins Ultra-Bold"/>
            </a:endParaRPr>
          </a:p>
        </p:txBody>
      </p:sp>
    </p:spTree>
    <p:extLst>
      <p:ext uri="{BB962C8B-B14F-4D97-AF65-F5344CB8AC3E}">
        <p14:creationId xmlns:p14="http://schemas.microsoft.com/office/powerpoint/2010/main" val="219552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524972" y="182563"/>
            <a:ext cx="11734328" cy="277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7200" dirty="0" err="1" smtClean="0">
                <a:solidFill>
                  <a:srgbClr val="7030A0"/>
                </a:solidFill>
                <a:latin typeface="Poppins Ultra-Bold"/>
              </a:rPr>
              <a:t>Prinsip</a:t>
            </a:r>
            <a:r>
              <a:rPr lang="en-US" sz="72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7200" dirty="0" err="1" smtClean="0">
                <a:solidFill>
                  <a:srgbClr val="7030A0"/>
                </a:solidFill>
                <a:latin typeface="Poppins Ultra-Bold"/>
              </a:rPr>
              <a:t>Administrasi</a:t>
            </a:r>
            <a:r>
              <a:rPr lang="en-US" sz="72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7200" dirty="0" err="1" smtClean="0">
                <a:solidFill>
                  <a:srgbClr val="7030A0"/>
                </a:solidFill>
                <a:latin typeface="Poppins Ultra-Bold"/>
              </a:rPr>
              <a:t>Keuangan</a:t>
            </a:r>
            <a:r>
              <a:rPr lang="en-US" sz="7200" dirty="0" smtClean="0">
                <a:solidFill>
                  <a:srgbClr val="7030A0"/>
                </a:solidFill>
                <a:latin typeface="Poppins Ultra-Bold"/>
              </a:rPr>
              <a:t> UMKM</a:t>
            </a:r>
            <a:endParaRPr lang="en-US" sz="72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23" name="Content Placeholder 22"/>
          <p:cNvSpPr>
            <a:spLocks noGrp="1"/>
          </p:cNvSpPr>
          <p:nvPr>
            <p:ph sz="half" idx="1"/>
          </p:nvPr>
        </p:nvSpPr>
        <p:spPr>
          <a:xfrm>
            <a:off x="4387915" y="3516157"/>
            <a:ext cx="5258854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Menghindari</a:t>
            </a:r>
            <a:r>
              <a:rPr lang="en-US" dirty="0" smtClean="0"/>
              <a:t> </a:t>
            </a:r>
            <a:r>
              <a:rPr lang="en-US" dirty="0" err="1"/>
              <a:t>konflik</a:t>
            </a:r>
            <a:r>
              <a:rPr lang="en-US" dirty="0"/>
              <a:t> </a:t>
            </a:r>
            <a:r>
              <a:rPr lang="en-US" dirty="0" err="1" smtClean="0"/>
              <a:t>kepentingan</a:t>
            </a:r>
            <a:endParaRPr lang="en-US" dirty="0" smtClean="0"/>
          </a:p>
          <a:p>
            <a:r>
              <a:rPr lang="en-US" dirty="0" err="1" smtClean="0"/>
              <a:t>Mengadopsi</a:t>
            </a:r>
            <a:r>
              <a:rPr lang="en-US" dirty="0" smtClean="0"/>
              <a:t> </a:t>
            </a:r>
            <a:r>
              <a:rPr lang="en-US" dirty="0" err="1" smtClean="0"/>
              <a:t>tata</a:t>
            </a:r>
            <a:r>
              <a:rPr lang="en-US" dirty="0" smtClean="0"/>
              <a:t> </a:t>
            </a:r>
            <a:r>
              <a:rPr lang="en-US" dirty="0" err="1" smtClean="0"/>
              <a:t>kelola</a:t>
            </a:r>
            <a:r>
              <a:rPr lang="en-US" dirty="0" smtClean="0"/>
              <a:t> </a:t>
            </a:r>
            <a:r>
              <a:rPr lang="en-US" dirty="0" err="1" smtClean="0"/>
              <a:t>organisasi</a:t>
            </a:r>
            <a:r>
              <a:rPr lang="en-US" dirty="0"/>
              <a:t>: </a:t>
            </a:r>
            <a:r>
              <a:rPr lang="en-US" dirty="0" err="1"/>
              <a:t>mencakup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menangani</a:t>
            </a:r>
            <a:r>
              <a:rPr lang="en-US" dirty="0"/>
              <a:t> </a:t>
            </a:r>
            <a:r>
              <a:rPr lang="en-US" dirty="0" err="1"/>
              <a:t>dilema</a:t>
            </a:r>
            <a:r>
              <a:rPr lang="en-US" dirty="0"/>
              <a:t> </a:t>
            </a:r>
            <a:r>
              <a:rPr lang="en-US" dirty="0" err="1"/>
              <a:t>etika</a:t>
            </a:r>
            <a:r>
              <a:rPr lang="en-US" dirty="0"/>
              <a:t> </a:t>
            </a:r>
            <a:r>
              <a:rPr lang="en-US" dirty="0" err="1" smtClean="0"/>
              <a:t>tertentu</a:t>
            </a:r>
            <a:endParaRPr lang="en-US" dirty="0" smtClean="0"/>
          </a:p>
          <a:p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“</a:t>
            </a:r>
            <a:r>
              <a:rPr lang="en-US" dirty="0" err="1"/>
              <a:t>standar</a:t>
            </a:r>
            <a:r>
              <a:rPr lang="en-US" dirty="0"/>
              <a:t> yang </a:t>
            </a:r>
            <a:r>
              <a:rPr lang="en-US" dirty="0" err="1"/>
              <a:t>memandu</a:t>
            </a:r>
            <a:r>
              <a:rPr lang="en-US" dirty="0"/>
              <a:t> </a:t>
            </a:r>
            <a:r>
              <a:rPr lang="en-US" dirty="0" err="1"/>
              <a:t>aktivitas</a:t>
            </a:r>
            <a:r>
              <a:rPr lang="en-US" dirty="0"/>
              <a:t> yang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berlangsung</a:t>
            </a:r>
            <a:r>
              <a:rPr lang="en-US" dirty="0"/>
              <a:t>”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err="1" smtClean="0"/>
              <a:t>Namun</a:t>
            </a:r>
            <a:r>
              <a:rPr lang="en-US" dirty="0" smtClean="0"/>
              <a:t> </a:t>
            </a:r>
            <a:r>
              <a:rPr lang="en-US" dirty="0" err="1" smtClean="0"/>
              <a:t>standar</a:t>
            </a:r>
            <a:r>
              <a:rPr lang="en-US" dirty="0" smtClean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etis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 smtClean="0"/>
              <a:t>etis</a:t>
            </a:r>
            <a:endParaRPr lang="en-US" dirty="0" smtClean="0"/>
          </a:p>
          <a:p>
            <a:r>
              <a:rPr lang="en-US" dirty="0" err="1" smtClean="0"/>
              <a:t>Menguatkan</a:t>
            </a:r>
            <a:r>
              <a:rPr lang="en-US" dirty="0" smtClean="0"/>
              <a:t> </a:t>
            </a:r>
            <a:r>
              <a:rPr lang="en-US" dirty="0" err="1"/>
              <a:t>keyakinan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“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”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844" y="2954604"/>
            <a:ext cx="7068536" cy="6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7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87154" y="321685"/>
            <a:ext cx="15201900" cy="1235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Strategi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Penentuan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Harga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Jual</a:t>
            </a:r>
            <a:endParaRPr lang="en-US" sz="44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343400" y="2128768"/>
            <a:ext cx="13508496" cy="6104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1036" lvl="1" algn="just">
              <a:lnSpc>
                <a:spcPts val="3385"/>
              </a:lnSpc>
            </a:pPr>
            <a:r>
              <a:rPr lang="en-US" sz="2800" b="1" dirty="0" err="1" smtClean="0">
                <a:solidFill>
                  <a:srgbClr val="7030A0"/>
                </a:solidFill>
              </a:rPr>
              <a:t>Harga</a:t>
            </a:r>
            <a:r>
              <a:rPr lang="en-US" sz="2800" b="1" dirty="0" smtClean="0">
                <a:solidFill>
                  <a:srgbClr val="7030A0"/>
                </a:solidFill>
              </a:rPr>
              <a:t> </a:t>
            </a:r>
            <a:r>
              <a:rPr lang="en-US" sz="2800" b="1" dirty="0" err="1" smtClean="0">
                <a:solidFill>
                  <a:srgbClr val="7030A0"/>
                </a:solidFill>
              </a:rPr>
              <a:t>Jual</a:t>
            </a:r>
            <a:r>
              <a:rPr lang="en-US" sz="2800" b="1" dirty="0" smtClean="0">
                <a:solidFill>
                  <a:srgbClr val="7030A0"/>
                </a:solidFill>
              </a:rPr>
              <a:t> </a:t>
            </a:r>
            <a:r>
              <a:rPr lang="en-US" sz="2800" b="1" dirty="0" err="1" smtClean="0">
                <a:solidFill>
                  <a:srgbClr val="7030A0"/>
                </a:solidFill>
              </a:rPr>
              <a:t>Produksi</a:t>
            </a:r>
            <a:endParaRPr lang="en-US" sz="2800" b="1" dirty="0" smtClean="0">
              <a:solidFill>
                <a:srgbClr val="7030A0"/>
              </a:solidFill>
            </a:endParaRPr>
          </a:p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800" dirty="0" err="1" smtClean="0"/>
              <a:t>Berkaitan</a:t>
            </a:r>
            <a:r>
              <a:rPr lang="en-US" sz="2800" dirty="0" smtClean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pendapatan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laba</a:t>
            </a:r>
            <a:r>
              <a:rPr lang="en-US" sz="2800" dirty="0"/>
              <a:t> </a:t>
            </a:r>
            <a:r>
              <a:rPr lang="en-US" sz="2800" dirty="0" err="1" smtClean="0"/>
              <a:t>perusahaan</a:t>
            </a:r>
            <a:endParaRPr lang="en-US" sz="2800" dirty="0" smtClean="0"/>
          </a:p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800" dirty="0" err="1"/>
              <a:t>Harga</a:t>
            </a:r>
            <a:r>
              <a:rPr lang="en-US" sz="2800" dirty="0"/>
              <a:t> </a:t>
            </a:r>
            <a:r>
              <a:rPr lang="en-US" sz="2800" dirty="0" err="1"/>
              <a:t>jual</a:t>
            </a:r>
            <a:r>
              <a:rPr lang="en-US" sz="2800" dirty="0"/>
              <a:t> </a:t>
            </a:r>
            <a:r>
              <a:rPr lang="en-US" sz="2800" dirty="0" err="1"/>
              <a:t>produk</a:t>
            </a:r>
            <a:r>
              <a:rPr lang="en-US" sz="2800" dirty="0"/>
              <a:t> </a:t>
            </a:r>
            <a:r>
              <a:rPr lang="en-US" sz="2800" dirty="0" err="1"/>
              <a:t>harus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menutup</a:t>
            </a:r>
            <a:r>
              <a:rPr lang="en-US" sz="2800" dirty="0"/>
              <a:t> </a:t>
            </a:r>
            <a:r>
              <a:rPr lang="en-US" sz="2800" dirty="0" err="1"/>
              <a:t>segala</a:t>
            </a:r>
            <a:r>
              <a:rPr lang="en-US" sz="2800" dirty="0"/>
              <a:t> </a:t>
            </a:r>
            <a:r>
              <a:rPr lang="en-US" sz="2800" dirty="0" err="1"/>
              <a:t>biaya</a:t>
            </a:r>
            <a:r>
              <a:rPr lang="en-US" sz="2800" dirty="0"/>
              <a:t> yang </a:t>
            </a:r>
            <a:r>
              <a:rPr lang="en-US" sz="2800" dirty="0" err="1"/>
              <a:t>dikeluarkan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mendapat</a:t>
            </a:r>
            <a:r>
              <a:rPr lang="en-US" sz="2800" dirty="0"/>
              <a:t> </a:t>
            </a:r>
            <a:r>
              <a:rPr lang="en-US" sz="2800" dirty="0" err="1"/>
              <a:t>laba</a:t>
            </a:r>
            <a:r>
              <a:rPr lang="en-US" sz="2800" dirty="0"/>
              <a:t> yang </a:t>
            </a:r>
            <a:r>
              <a:rPr lang="en-US" sz="2800" dirty="0" err="1" smtClean="0"/>
              <a:t>diinginkan</a:t>
            </a:r>
            <a:endParaRPr lang="en-US" sz="2800" dirty="0" smtClean="0"/>
          </a:p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800" dirty="0" err="1" smtClean="0">
                <a:solidFill>
                  <a:srgbClr val="000000"/>
                </a:solidFill>
                <a:latin typeface="Poppins Medium"/>
              </a:rPr>
              <a:t>Pertimbangan</a:t>
            </a:r>
            <a:r>
              <a:rPr lang="en-US" sz="2800" dirty="0" smtClean="0">
                <a:solidFill>
                  <a:srgbClr val="000000"/>
                </a:solidFill>
                <a:latin typeface="Poppins Medium"/>
              </a:rPr>
              <a:t>: </a:t>
            </a:r>
            <a:r>
              <a:rPr lang="en-US" sz="2800" dirty="0" err="1"/>
              <a:t>keinginan</a:t>
            </a:r>
            <a:r>
              <a:rPr lang="en-US" sz="2800" dirty="0"/>
              <a:t> </a:t>
            </a:r>
            <a:r>
              <a:rPr lang="en-US" sz="2800" dirty="0" err="1"/>
              <a:t>konsumen</a:t>
            </a:r>
            <a:r>
              <a:rPr lang="en-US" sz="2800" dirty="0"/>
              <a:t>, </a:t>
            </a:r>
            <a:r>
              <a:rPr lang="en-US" sz="2800" dirty="0" err="1"/>
              <a:t>keadaan</a:t>
            </a:r>
            <a:r>
              <a:rPr lang="en-US" sz="2800" dirty="0"/>
              <a:t> </a:t>
            </a:r>
            <a:r>
              <a:rPr lang="en-US" sz="2800" dirty="0" err="1"/>
              <a:t>pasar</a:t>
            </a:r>
            <a:r>
              <a:rPr lang="en-US" sz="2800" dirty="0"/>
              <a:t>, competitor, </a:t>
            </a:r>
            <a:r>
              <a:rPr lang="en-US" sz="2800" dirty="0" err="1"/>
              <a:t>biaya</a:t>
            </a:r>
            <a:r>
              <a:rPr lang="en-US" sz="2800" dirty="0"/>
              <a:t> </a:t>
            </a:r>
            <a:r>
              <a:rPr lang="en-US" sz="2800" dirty="0" err="1"/>
              <a:t>produksi</a:t>
            </a:r>
            <a:r>
              <a:rPr lang="en-US" sz="2800" dirty="0"/>
              <a:t>, </a:t>
            </a:r>
            <a:r>
              <a:rPr lang="en-US" sz="2800" dirty="0" err="1"/>
              <a:t>waktu</a:t>
            </a:r>
            <a:r>
              <a:rPr lang="en-US" sz="2800" dirty="0"/>
              <a:t>, </a:t>
            </a:r>
            <a:r>
              <a:rPr lang="en-US" sz="2800" dirty="0" err="1"/>
              <a:t>peraturan</a:t>
            </a:r>
            <a:r>
              <a:rPr lang="en-US" sz="2800" dirty="0"/>
              <a:t> </a:t>
            </a:r>
            <a:r>
              <a:rPr lang="en-US" sz="2800" dirty="0" err="1"/>
              <a:t>perundangan</a:t>
            </a:r>
            <a:r>
              <a:rPr lang="en-US" sz="2800" dirty="0"/>
              <a:t>, </a:t>
            </a:r>
            <a:r>
              <a:rPr lang="en-US" sz="2800" dirty="0" err="1"/>
              <a:t>aspek</a:t>
            </a:r>
            <a:r>
              <a:rPr lang="en-US" sz="2800" dirty="0"/>
              <a:t> </a:t>
            </a:r>
            <a:r>
              <a:rPr lang="en-US" sz="2800" dirty="0" err="1"/>
              <a:t>politik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imej</a:t>
            </a:r>
            <a:r>
              <a:rPr lang="en-US" sz="2800" dirty="0"/>
              <a:t> </a:t>
            </a:r>
            <a:r>
              <a:rPr lang="en-US" sz="2800" dirty="0" err="1" smtClean="0"/>
              <a:t>perusahaan</a:t>
            </a:r>
            <a:endParaRPr lang="en-US" sz="2800" dirty="0" smtClean="0"/>
          </a:p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800" dirty="0" err="1" smtClean="0"/>
              <a:t>Mempengaruhi</a:t>
            </a:r>
            <a:r>
              <a:rPr lang="en-US" sz="2800" dirty="0" smtClean="0"/>
              <a:t> </a:t>
            </a:r>
            <a:r>
              <a:rPr lang="en-US" sz="2800" dirty="0" err="1"/>
              <a:t>jumlah</a:t>
            </a:r>
            <a:r>
              <a:rPr lang="en-US" sz="2800" dirty="0"/>
              <a:t> </a:t>
            </a:r>
            <a:r>
              <a:rPr lang="en-US" sz="2800" dirty="0" err="1"/>
              <a:t>permintaan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produk</a:t>
            </a:r>
            <a:r>
              <a:rPr lang="en-US" sz="2800" dirty="0"/>
              <a:t>, </a:t>
            </a:r>
            <a:r>
              <a:rPr lang="en-US" sz="2800" dirty="0" err="1"/>
              <a:t>jika</a:t>
            </a:r>
            <a:r>
              <a:rPr lang="en-US" sz="2800" dirty="0"/>
              <a:t> </a:t>
            </a:r>
            <a:r>
              <a:rPr lang="en-US" sz="2800" dirty="0" err="1"/>
              <a:t>harga</a:t>
            </a:r>
            <a:r>
              <a:rPr lang="en-US" sz="2800" dirty="0"/>
              <a:t> </a:t>
            </a:r>
            <a:r>
              <a:rPr lang="en-US" sz="2800" dirty="0" err="1"/>
              <a:t>jual</a:t>
            </a:r>
            <a:r>
              <a:rPr lang="en-US" sz="2800" dirty="0"/>
              <a:t> </a:t>
            </a:r>
            <a:r>
              <a:rPr lang="en-US" sz="2800" dirty="0" err="1"/>
              <a:t>produk</a:t>
            </a:r>
            <a:r>
              <a:rPr lang="en-US" sz="2800" dirty="0"/>
              <a:t> </a:t>
            </a:r>
            <a:r>
              <a:rPr lang="en-US" sz="2800" dirty="0" err="1"/>
              <a:t>terlalu</a:t>
            </a:r>
            <a:r>
              <a:rPr lang="en-US" sz="2800" dirty="0"/>
              <a:t> </a:t>
            </a:r>
            <a:r>
              <a:rPr lang="en-US" sz="2800" dirty="0" err="1"/>
              <a:t>mahal</a:t>
            </a:r>
            <a:r>
              <a:rPr lang="en-US" sz="2800" dirty="0"/>
              <a:t> </a:t>
            </a:r>
            <a:r>
              <a:rPr lang="en-US" sz="2800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menyebabkan</a:t>
            </a:r>
            <a:r>
              <a:rPr lang="en-US" sz="2800" dirty="0"/>
              <a:t> </a:t>
            </a:r>
            <a:r>
              <a:rPr lang="en-US" sz="2800" dirty="0" err="1"/>
              <a:t>penurunan</a:t>
            </a:r>
            <a:r>
              <a:rPr lang="en-US" sz="2800" dirty="0"/>
              <a:t> </a:t>
            </a:r>
            <a:r>
              <a:rPr lang="en-US" sz="2800" dirty="0" err="1"/>
              <a:t>permintaan</a:t>
            </a:r>
            <a:r>
              <a:rPr lang="en-US" sz="2800" dirty="0"/>
              <a:t>, </a:t>
            </a:r>
            <a:r>
              <a:rPr lang="en-US" sz="2800" dirty="0" err="1"/>
              <a:t>sedangkan</a:t>
            </a:r>
            <a:r>
              <a:rPr lang="en-US" sz="2800" dirty="0"/>
              <a:t> </a:t>
            </a:r>
            <a:r>
              <a:rPr lang="en-US" sz="2800" dirty="0" err="1"/>
              <a:t>bila</a:t>
            </a:r>
            <a:r>
              <a:rPr lang="en-US" sz="2800" dirty="0"/>
              <a:t> </a:t>
            </a:r>
            <a:r>
              <a:rPr lang="en-US" sz="2800" dirty="0" err="1"/>
              <a:t>perusahaan</a:t>
            </a:r>
            <a:r>
              <a:rPr lang="en-US" sz="2800" dirty="0"/>
              <a:t> </a:t>
            </a:r>
            <a:r>
              <a:rPr lang="en-US" sz="2800" dirty="0" err="1"/>
              <a:t>mengikuti</a:t>
            </a:r>
            <a:r>
              <a:rPr lang="en-US" sz="2800" dirty="0"/>
              <a:t> </a:t>
            </a:r>
            <a:r>
              <a:rPr lang="en-US" sz="2800" dirty="0" err="1"/>
              <a:t>perang</a:t>
            </a:r>
            <a:r>
              <a:rPr lang="en-US" sz="2800" dirty="0"/>
              <a:t> </a:t>
            </a:r>
            <a:r>
              <a:rPr lang="en-US" sz="2800" dirty="0" err="1"/>
              <a:t>harga</a:t>
            </a:r>
            <a:r>
              <a:rPr lang="en-US" sz="2800" dirty="0"/>
              <a:t> </a:t>
            </a:r>
            <a:r>
              <a:rPr lang="en-US" sz="2800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membuat</a:t>
            </a:r>
            <a:r>
              <a:rPr lang="en-US" sz="2800" dirty="0"/>
              <a:t> </a:t>
            </a:r>
            <a:r>
              <a:rPr lang="en-US" sz="2800" dirty="0" err="1"/>
              <a:t>mereka</a:t>
            </a:r>
            <a:r>
              <a:rPr lang="en-US" sz="2800" dirty="0"/>
              <a:t> </a:t>
            </a:r>
            <a:r>
              <a:rPr lang="en-US" sz="2800" dirty="0" err="1"/>
              <a:t>menurunkan</a:t>
            </a:r>
            <a:r>
              <a:rPr lang="en-US" sz="2800" dirty="0"/>
              <a:t> </a:t>
            </a:r>
            <a:r>
              <a:rPr lang="en-US" sz="2800" dirty="0" err="1"/>
              <a:t>harga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margin </a:t>
            </a:r>
            <a:r>
              <a:rPr lang="en-US" sz="2800" dirty="0" err="1"/>
              <a:t>keuntungan</a:t>
            </a:r>
            <a:r>
              <a:rPr lang="en-US" sz="2800" dirty="0"/>
              <a:t> yang </a:t>
            </a:r>
            <a:r>
              <a:rPr lang="en-US" sz="2800" dirty="0" err="1"/>
              <a:t>didapatkan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</a:t>
            </a:r>
            <a:r>
              <a:rPr lang="en-US" sz="2800" dirty="0" err="1"/>
              <a:t>terlalu</a:t>
            </a:r>
            <a:r>
              <a:rPr lang="en-US" sz="2800" dirty="0"/>
              <a:t> </a:t>
            </a:r>
            <a:r>
              <a:rPr lang="en-US" sz="2800" dirty="0" err="1"/>
              <a:t>rendah</a:t>
            </a:r>
            <a:r>
              <a:rPr lang="en-US" sz="2800" dirty="0"/>
              <a:t> </a:t>
            </a: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berdampak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kemampuan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perusahaan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bertahan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tetap</a:t>
            </a:r>
            <a:r>
              <a:rPr lang="en-US" sz="2800" dirty="0"/>
              <a:t> </a:t>
            </a:r>
            <a:r>
              <a:rPr lang="en-US" sz="2800" dirty="0" err="1"/>
              <a:t>selamat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persaingan</a:t>
            </a:r>
            <a:r>
              <a:rPr lang="en-US" sz="2800" dirty="0"/>
              <a:t> yang </a:t>
            </a:r>
            <a:r>
              <a:rPr lang="en-US" sz="2800" dirty="0" err="1" smtClean="0"/>
              <a:t>ketat</a:t>
            </a:r>
            <a:r>
              <a:rPr lang="en-US" sz="2800" dirty="0" smtClean="0"/>
              <a:t>.</a:t>
            </a:r>
          </a:p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800" i="1" dirty="0" err="1" smtClean="0">
                <a:solidFill>
                  <a:srgbClr val="7030A0"/>
                </a:solidFill>
              </a:rPr>
              <a:t>Menghitung</a:t>
            </a:r>
            <a:r>
              <a:rPr lang="en-US" sz="2800" i="1" dirty="0" smtClean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biaya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variabel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dan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biaya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tetap</a:t>
            </a:r>
            <a:r>
              <a:rPr lang="en-US" sz="2800" i="1" dirty="0">
                <a:solidFill>
                  <a:srgbClr val="7030A0"/>
                </a:solidFill>
              </a:rPr>
              <a:t>, </a:t>
            </a:r>
            <a:r>
              <a:rPr lang="en-US" sz="2800" i="1" dirty="0" err="1">
                <a:solidFill>
                  <a:srgbClr val="7030A0"/>
                </a:solidFill>
              </a:rPr>
              <a:t>sehingga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dengan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begitu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dalam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memastikan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harga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jual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produk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dapat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lebih</a:t>
            </a:r>
            <a:r>
              <a:rPr lang="en-US" sz="2800" i="1" dirty="0">
                <a:solidFill>
                  <a:srgbClr val="7030A0"/>
                </a:solidFill>
              </a:rPr>
              <a:t> </a:t>
            </a:r>
            <a:r>
              <a:rPr lang="en-US" sz="2800" i="1" dirty="0" err="1">
                <a:solidFill>
                  <a:srgbClr val="7030A0"/>
                </a:solidFill>
              </a:rPr>
              <a:t>akurat</a:t>
            </a:r>
            <a:r>
              <a:rPr lang="en-US" sz="2800" i="1" dirty="0">
                <a:solidFill>
                  <a:srgbClr val="7030A0"/>
                </a:solidFill>
              </a:rPr>
              <a:t>.</a:t>
            </a:r>
            <a:endParaRPr lang="en-US" sz="2418" i="1" dirty="0" smtClean="0">
              <a:solidFill>
                <a:srgbClr val="7030A0"/>
              </a:solidFill>
              <a:latin typeface="Poppi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5866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084605" y="-485886"/>
            <a:ext cx="13823532" cy="1249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4800" dirty="0" err="1" smtClean="0">
                <a:solidFill>
                  <a:srgbClr val="7030A0"/>
                </a:solidFill>
                <a:latin typeface="Poppins Ultra-Bold"/>
              </a:rPr>
              <a:t>Langkah</a:t>
            </a:r>
            <a:r>
              <a:rPr lang="en-US" sz="48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800" dirty="0" err="1" smtClean="0">
                <a:solidFill>
                  <a:srgbClr val="7030A0"/>
                </a:solidFill>
                <a:latin typeface="Poppins Ultra-Bold"/>
              </a:rPr>
              <a:t>Membuat</a:t>
            </a:r>
            <a:r>
              <a:rPr lang="en-US" sz="4800" dirty="0" smtClean="0">
                <a:solidFill>
                  <a:srgbClr val="7030A0"/>
                </a:solidFill>
                <a:latin typeface="Poppins Ultra-Bold"/>
              </a:rPr>
              <a:t>  </a:t>
            </a:r>
            <a:r>
              <a:rPr lang="en-US" sz="4800" dirty="0" err="1" smtClean="0">
                <a:solidFill>
                  <a:srgbClr val="7030A0"/>
                </a:solidFill>
                <a:latin typeface="Poppins Ultra-Bold"/>
              </a:rPr>
              <a:t>Administrasi</a:t>
            </a:r>
            <a:r>
              <a:rPr lang="en-US" sz="48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800" dirty="0" err="1" smtClean="0">
                <a:solidFill>
                  <a:srgbClr val="7030A0"/>
                </a:solidFill>
                <a:latin typeface="Poppins Ultra-Bold"/>
              </a:rPr>
              <a:t>Keuangan</a:t>
            </a:r>
            <a:endParaRPr lang="en-US" sz="48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23" name="Content Placeholder 22"/>
          <p:cNvSpPr>
            <a:spLocks noGrp="1"/>
          </p:cNvSpPr>
          <p:nvPr>
            <p:ph sz="half" idx="1"/>
          </p:nvPr>
        </p:nvSpPr>
        <p:spPr>
          <a:xfrm>
            <a:off x="1590262" y="1499035"/>
            <a:ext cx="8378841" cy="38862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dirty="0" err="1" smtClean="0">
                <a:solidFill>
                  <a:srgbClr val="7030A0"/>
                </a:solidFill>
              </a:rPr>
              <a:t>Mencatat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Semua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Transaksi</a:t>
            </a:r>
            <a:r>
              <a:rPr lang="en-US" sz="2400" b="1" dirty="0" smtClean="0">
                <a:solidFill>
                  <a:srgbClr val="7030A0"/>
                </a:solidFill>
              </a:rPr>
              <a:t> yang </a:t>
            </a:r>
            <a:r>
              <a:rPr lang="en-US" sz="2400" b="1" dirty="0" err="1" smtClean="0">
                <a:solidFill>
                  <a:srgbClr val="7030A0"/>
                </a:solidFill>
              </a:rPr>
              <a:t>terjadi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pada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bisnis</a:t>
            </a:r>
            <a:r>
              <a:rPr lang="en-US" sz="2400" b="1" dirty="0" smtClean="0">
                <a:solidFill>
                  <a:srgbClr val="7030A0"/>
                </a:solidFill>
              </a:rPr>
              <a:t> (</a:t>
            </a:r>
            <a:r>
              <a:rPr lang="en-US" sz="2400" b="1" dirty="0" err="1" smtClean="0">
                <a:solidFill>
                  <a:srgbClr val="7030A0"/>
                </a:solidFill>
              </a:rPr>
              <a:t>bedakan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biaya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langsung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dan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tidak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langsung</a:t>
            </a:r>
            <a:r>
              <a:rPr lang="en-US" sz="2400" b="1" dirty="0" smtClean="0">
                <a:solidFill>
                  <a:srgbClr val="7030A0"/>
                </a:solidFill>
              </a:rPr>
              <a:t>)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b="1" dirty="0" err="1" smtClean="0">
                <a:solidFill>
                  <a:srgbClr val="7030A0"/>
                </a:solidFill>
              </a:rPr>
              <a:t>Mengumpulkan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bukti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transaksi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b="1" dirty="0" err="1" smtClean="0">
                <a:solidFill>
                  <a:srgbClr val="7030A0"/>
                </a:solidFill>
              </a:rPr>
              <a:t>Membuat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Laporan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Keuangan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sz="2000" b="1" dirty="0" err="1" smtClean="0">
                <a:solidFill>
                  <a:srgbClr val="7030A0"/>
                </a:solidFill>
              </a:rPr>
              <a:t>Laporan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Posisi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Keuangan</a:t>
            </a:r>
            <a:r>
              <a:rPr lang="en-US" sz="2000" b="1" dirty="0" smtClean="0">
                <a:solidFill>
                  <a:srgbClr val="7030A0"/>
                </a:solidFill>
              </a:rPr>
              <a:t> (</a:t>
            </a:r>
            <a:r>
              <a:rPr lang="en-US" sz="2000" b="1" dirty="0" err="1" smtClean="0">
                <a:solidFill>
                  <a:srgbClr val="7030A0"/>
                </a:solidFill>
              </a:rPr>
              <a:t>Neraca</a:t>
            </a:r>
            <a:r>
              <a:rPr lang="en-US" sz="2000" b="1" dirty="0" smtClean="0">
                <a:solidFill>
                  <a:srgbClr val="7030A0"/>
                </a:solidFill>
              </a:rPr>
              <a:t>): </a:t>
            </a:r>
            <a:r>
              <a:rPr lang="en-US" sz="2000" b="1" dirty="0" err="1" smtClean="0">
                <a:solidFill>
                  <a:srgbClr val="7030A0"/>
                </a:solidFill>
              </a:rPr>
              <a:t>Memberikan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gambaran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menyeluruh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terkait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informasi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keuangan</a:t>
            </a:r>
            <a:r>
              <a:rPr lang="en-US" sz="2000" b="1" dirty="0" smtClean="0">
                <a:solidFill>
                  <a:srgbClr val="7030A0"/>
                </a:solidFill>
              </a:rPr>
              <a:t> UMKM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000" b="1" dirty="0" err="1" smtClean="0">
                <a:solidFill>
                  <a:srgbClr val="7030A0"/>
                </a:solidFill>
              </a:rPr>
              <a:t>Laporan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Laba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Rugi</a:t>
            </a:r>
            <a:r>
              <a:rPr lang="en-US" sz="2000" b="1" dirty="0" smtClean="0">
                <a:solidFill>
                  <a:srgbClr val="7030A0"/>
                </a:solidFill>
              </a:rPr>
              <a:t>; </a:t>
            </a:r>
            <a:r>
              <a:rPr lang="en-US" sz="2000" b="1" dirty="0" err="1" smtClean="0">
                <a:solidFill>
                  <a:srgbClr val="7030A0"/>
                </a:solidFill>
              </a:rPr>
              <a:t>Merangkum</a:t>
            </a:r>
            <a:r>
              <a:rPr lang="en-US" sz="2000" b="1" dirty="0" smtClean="0">
                <a:solidFill>
                  <a:srgbClr val="7030A0"/>
                </a:solidFill>
              </a:rPr>
              <a:t> total </a:t>
            </a:r>
            <a:r>
              <a:rPr lang="en-US" sz="2000" b="1" dirty="0" err="1" smtClean="0">
                <a:solidFill>
                  <a:srgbClr val="7030A0"/>
                </a:solidFill>
              </a:rPr>
              <a:t>pendapatan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dan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pengeluaran</a:t>
            </a:r>
            <a:endParaRPr lang="en-US" sz="2000" b="1" dirty="0" smtClean="0">
              <a:solidFill>
                <a:srgbClr val="7030A0"/>
              </a:solidFill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sz="2000" b="1" dirty="0" err="1" smtClean="0">
                <a:solidFill>
                  <a:srgbClr val="7030A0"/>
                </a:solidFill>
              </a:rPr>
              <a:t>Laporan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Arus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Kas</a:t>
            </a:r>
            <a:endParaRPr lang="en-US" sz="2000" b="1" dirty="0" smtClean="0">
              <a:solidFill>
                <a:srgbClr val="7030A0"/>
              </a:solidFill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sz="2000" b="1" dirty="0" err="1" smtClean="0">
                <a:solidFill>
                  <a:srgbClr val="7030A0"/>
                </a:solidFill>
              </a:rPr>
              <a:t>Laporan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Kinerja</a:t>
            </a:r>
            <a:r>
              <a:rPr lang="en-US" sz="2000" b="1" dirty="0" smtClean="0">
                <a:solidFill>
                  <a:srgbClr val="7030A0"/>
                </a:solidFill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Keuangan</a:t>
            </a:r>
            <a:endParaRPr lang="en-US" sz="2000" b="1" dirty="0" smtClean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b="1" dirty="0" err="1" smtClean="0">
                <a:solidFill>
                  <a:srgbClr val="7030A0"/>
                </a:solidFill>
              </a:rPr>
              <a:t>Memeriksa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dan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</a:rPr>
              <a:t>Evaluasi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3615908270"/>
              </p:ext>
            </p:extLst>
          </p:nvPr>
        </p:nvGraphicFramePr>
        <p:xfrm>
          <a:off x="10365474" y="1136192"/>
          <a:ext cx="7542663" cy="5573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Rectangle 17"/>
          <p:cNvSpPr/>
          <p:nvPr/>
        </p:nvSpPr>
        <p:spPr>
          <a:xfrm>
            <a:off x="7315200" y="7568529"/>
            <a:ext cx="9144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</a:rPr>
              <a:t>Faktor-faktor</a:t>
            </a:r>
            <a:r>
              <a:rPr lang="en-US" sz="2000" b="1" dirty="0">
                <a:solidFill>
                  <a:srgbClr val="002060"/>
                </a:solidFill>
              </a:rPr>
              <a:t> yang </a:t>
            </a:r>
            <a:r>
              <a:rPr lang="en-US" sz="2000" b="1" dirty="0" err="1">
                <a:solidFill>
                  <a:srgbClr val="002060"/>
                </a:solidFill>
              </a:rPr>
              <a:t>mempengaruhi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klasifikasi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biaya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langsung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maupun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tidak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langsung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adalah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materialitas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suatu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biaya</a:t>
            </a:r>
            <a:r>
              <a:rPr lang="en-US" sz="2000" b="1" dirty="0">
                <a:solidFill>
                  <a:srgbClr val="002060"/>
                </a:solidFill>
              </a:rPr>
              <a:t>, </a:t>
            </a:r>
            <a:r>
              <a:rPr lang="en-US" sz="2000" b="1" dirty="0" err="1">
                <a:solidFill>
                  <a:srgbClr val="002060"/>
                </a:solidFill>
              </a:rPr>
              <a:t>ketersediaan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teknologi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pengumpulan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informasi</a:t>
            </a:r>
            <a:r>
              <a:rPr lang="en-US" sz="2000" b="1" dirty="0">
                <a:solidFill>
                  <a:srgbClr val="002060"/>
                </a:solidFill>
              </a:rPr>
              <a:t>, </a:t>
            </a:r>
            <a:r>
              <a:rPr lang="en-US" sz="2000" b="1" dirty="0" err="1">
                <a:solidFill>
                  <a:srgbClr val="002060"/>
                </a:solidFill>
              </a:rPr>
              <a:t>dan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desain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operasi</a:t>
            </a:r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6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87154" y="321685"/>
            <a:ext cx="15201900" cy="1235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Pencatan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Biaya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tetap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dan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Biaya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Variabel</a:t>
            </a:r>
            <a:endParaRPr lang="en-US" sz="44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491525" y="5753100"/>
            <a:ext cx="12110675" cy="3924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1036" lvl="1" algn="just">
              <a:lnSpc>
                <a:spcPts val="3385"/>
              </a:lnSpc>
            </a:pPr>
            <a:r>
              <a:rPr lang="en-US" sz="2400" b="1" dirty="0" err="1" smtClean="0">
                <a:solidFill>
                  <a:srgbClr val="7030A0"/>
                </a:solidFill>
              </a:rPr>
              <a:t>Biaya</a:t>
            </a:r>
            <a:r>
              <a:rPr lang="en-US" sz="2400" b="1" dirty="0" smtClean="0">
                <a:solidFill>
                  <a:srgbClr val="7030A0"/>
                </a:solidFill>
              </a:rPr>
              <a:t> variable</a:t>
            </a:r>
          </a:p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400" dirty="0" err="1"/>
              <a:t>B</a:t>
            </a:r>
            <a:r>
              <a:rPr lang="en-US" sz="2400" dirty="0" err="1" smtClean="0"/>
              <a:t>iaya</a:t>
            </a:r>
            <a:r>
              <a:rPr lang="en-US" sz="2400" dirty="0" smtClean="0"/>
              <a:t> </a:t>
            </a:r>
            <a:r>
              <a:rPr lang="en-US" sz="2400" dirty="0"/>
              <a:t>yang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totalnya</a:t>
            </a:r>
            <a:r>
              <a:rPr lang="en-US" sz="2400" dirty="0"/>
              <a:t> </a:t>
            </a:r>
            <a:r>
              <a:rPr lang="en-US" sz="2400" dirty="0" err="1"/>
              <a:t>berubah-ubah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proporsional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volume </a:t>
            </a:r>
            <a:r>
              <a:rPr lang="en-US" sz="2400" dirty="0" err="1" smtClean="0"/>
              <a:t>produksinya</a:t>
            </a:r>
            <a:endParaRPr lang="en-US" sz="2400" dirty="0" smtClean="0"/>
          </a:p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400" dirty="0" err="1" smtClean="0"/>
              <a:t>Semakin</a:t>
            </a:r>
            <a:r>
              <a:rPr lang="en-US" sz="2400" dirty="0" smtClean="0"/>
              <a:t> </a:t>
            </a:r>
            <a:r>
              <a:rPr lang="en-US" sz="2400" dirty="0" err="1"/>
              <a:t>besar</a:t>
            </a:r>
            <a:r>
              <a:rPr lang="en-US" sz="2400" dirty="0"/>
              <a:t> volume </a:t>
            </a:r>
            <a:r>
              <a:rPr lang="en-US" sz="2400" dirty="0" err="1"/>
              <a:t>produksi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semakin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 smtClean="0"/>
              <a:t>jumlah</a:t>
            </a:r>
            <a:r>
              <a:rPr lang="en-US" sz="2400" dirty="0" smtClean="0"/>
              <a:t> </a:t>
            </a:r>
            <a:r>
              <a:rPr lang="en-US" sz="2400" dirty="0"/>
              <a:t>total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variabelnya</a:t>
            </a:r>
            <a:r>
              <a:rPr lang="en-US" sz="2400" dirty="0"/>
              <a:t>. </a:t>
            </a:r>
            <a:endParaRPr lang="en-US" sz="2400" dirty="0" smtClean="0"/>
          </a:p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400" dirty="0" err="1" smtClean="0"/>
              <a:t>Jika</a:t>
            </a:r>
            <a:r>
              <a:rPr lang="en-US" sz="2400" dirty="0" smtClean="0"/>
              <a:t> </a:t>
            </a:r>
            <a:r>
              <a:rPr lang="en-US" sz="2400" dirty="0" err="1"/>
              <a:t>produksi</a:t>
            </a:r>
            <a:r>
              <a:rPr lang="en-US" sz="2400" dirty="0"/>
              <a:t> </a:t>
            </a:r>
            <a:r>
              <a:rPr lang="en-US" sz="2400" dirty="0" err="1"/>
              <a:t>dihentikan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 smtClean="0"/>
              <a:t>biaya</a:t>
            </a:r>
            <a:r>
              <a:rPr lang="en-US" sz="2400" dirty="0" smtClean="0"/>
              <a:t> </a:t>
            </a:r>
            <a:r>
              <a:rPr lang="en-US" sz="2400" dirty="0" err="1" smtClean="0"/>
              <a:t>variabel</a:t>
            </a:r>
            <a:r>
              <a:rPr lang="en-US" sz="2400" dirty="0" smtClean="0"/>
              <a:t>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lagi</a:t>
            </a:r>
            <a:r>
              <a:rPr lang="en-US" sz="2400" dirty="0"/>
              <a:t>. </a:t>
            </a:r>
            <a:endParaRPr lang="en-US" sz="2400" dirty="0" smtClean="0"/>
          </a:p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400" dirty="0" err="1" smtClean="0"/>
              <a:t>Sedangkan</a:t>
            </a:r>
            <a:r>
              <a:rPr lang="en-US" sz="2400" dirty="0" smtClean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per </a:t>
            </a:r>
            <a:r>
              <a:rPr lang="en-US" sz="2400" dirty="0" err="1"/>
              <a:t>satuan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dipengaruhi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volume </a:t>
            </a:r>
            <a:r>
              <a:rPr lang="en-US" sz="2400" dirty="0" err="1"/>
              <a:t>kegiatan</a:t>
            </a:r>
            <a:r>
              <a:rPr lang="en-US" sz="2400" dirty="0"/>
              <a:t>,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satuan</a:t>
            </a:r>
            <a:r>
              <a:rPr lang="en-US" sz="2400" dirty="0"/>
              <a:t> </a:t>
            </a:r>
            <a:r>
              <a:rPr lang="en-US" sz="2400" dirty="0" err="1"/>
              <a:t>konstan</a:t>
            </a:r>
            <a:r>
              <a:rPr lang="en-US" sz="2400" dirty="0"/>
              <a:t>. </a:t>
            </a:r>
            <a:endParaRPr lang="en-US" sz="2400" dirty="0" smtClean="0"/>
          </a:p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400" dirty="0" err="1" smtClean="0"/>
              <a:t>Contohnya</a:t>
            </a:r>
            <a:r>
              <a:rPr lang="en-US" sz="2400" dirty="0" smtClean="0"/>
              <a:t> </a:t>
            </a:r>
            <a:r>
              <a:rPr lang="en-US" sz="2400" dirty="0" err="1" smtClean="0"/>
              <a:t>dari</a:t>
            </a:r>
            <a:r>
              <a:rPr lang="en-US" sz="2400" dirty="0" smtClean="0"/>
              <a:t> </a:t>
            </a:r>
            <a:r>
              <a:rPr lang="en-US" sz="2400" dirty="0" err="1" smtClean="0"/>
              <a:t>biaya</a:t>
            </a:r>
            <a:r>
              <a:rPr lang="en-US" sz="2400" dirty="0" smtClean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bahan</a:t>
            </a:r>
            <a:r>
              <a:rPr lang="en-US" sz="2400" dirty="0"/>
              <a:t> </a:t>
            </a:r>
            <a:r>
              <a:rPr lang="en-US" sz="2400" dirty="0" err="1"/>
              <a:t>baku</a:t>
            </a:r>
            <a:r>
              <a:rPr lang="en-US" sz="2400" dirty="0"/>
              <a:t>,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tenaga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 </a:t>
            </a:r>
            <a:r>
              <a:rPr lang="en-US" sz="2400" dirty="0" err="1"/>
              <a:t>langsung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overhead </a:t>
            </a:r>
            <a:r>
              <a:rPr lang="en-US" sz="2400" dirty="0" err="1"/>
              <a:t>pabrik</a:t>
            </a:r>
            <a:endParaRPr lang="en-US" sz="2400" dirty="0" smtClean="0">
              <a:solidFill>
                <a:srgbClr val="000000"/>
              </a:solidFill>
              <a:latin typeface="Poppins Medium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27325" y="2276714"/>
            <a:ext cx="1308877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 smtClean="0"/>
              <a:t>tetap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Biaya</a:t>
            </a:r>
            <a:r>
              <a:rPr lang="en-US" sz="2400" dirty="0" smtClean="0"/>
              <a:t> </a:t>
            </a:r>
            <a:r>
              <a:rPr lang="en-US" sz="2400" dirty="0"/>
              <a:t>yang </a:t>
            </a:r>
            <a:r>
              <a:rPr lang="en-US" sz="2400" dirty="0" err="1"/>
              <a:t>relatif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berubah</a:t>
            </a:r>
            <a:r>
              <a:rPr lang="en-US" sz="2400" dirty="0"/>
              <a:t> </a:t>
            </a:r>
            <a:r>
              <a:rPr lang="en-US" sz="2400" dirty="0" err="1"/>
              <a:t>meskipun</a:t>
            </a:r>
            <a:r>
              <a:rPr lang="en-US" sz="2400" dirty="0"/>
              <a:t> </a:t>
            </a:r>
            <a:r>
              <a:rPr lang="en-US" sz="2400" dirty="0" err="1"/>
              <a:t>terjadi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volume </a:t>
            </a:r>
            <a:r>
              <a:rPr lang="en-US" sz="2400" dirty="0" err="1"/>
              <a:t>produksi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batas</a:t>
            </a:r>
            <a:r>
              <a:rPr lang="en-US" sz="2400" dirty="0"/>
              <a:t> </a:t>
            </a:r>
            <a:r>
              <a:rPr lang="en-US" sz="2400" dirty="0" err="1"/>
              <a:t>tertentu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Jika</a:t>
            </a:r>
            <a:r>
              <a:rPr lang="en-US" sz="2400" dirty="0" smtClean="0"/>
              <a:t> </a:t>
            </a:r>
            <a:r>
              <a:rPr lang="en-US" sz="2400" dirty="0"/>
              <a:t>volume </a:t>
            </a:r>
            <a:r>
              <a:rPr lang="en-US" sz="2400" dirty="0" err="1"/>
              <a:t>produksi</a:t>
            </a:r>
            <a:r>
              <a:rPr lang="en-US" sz="2400" dirty="0"/>
              <a:t> </a:t>
            </a:r>
            <a:r>
              <a:rPr lang="en-US" sz="2400" dirty="0" err="1"/>
              <a:t>meningkat</a:t>
            </a:r>
            <a:r>
              <a:rPr lang="en-US" sz="2400" dirty="0"/>
              <a:t>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berubah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Jika</a:t>
            </a:r>
            <a:r>
              <a:rPr lang="en-US" sz="2400" dirty="0" smtClean="0"/>
              <a:t> </a:t>
            </a:r>
            <a:r>
              <a:rPr lang="en-US" sz="2400" dirty="0"/>
              <a:t>volume </a:t>
            </a:r>
            <a:r>
              <a:rPr lang="en-US" sz="2400" dirty="0" err="1"/>
              <a:t>produksi</a:t>
            </a:r>
            <a:r>
              <a:rPr lang="en-US" sz="2400" dirty="0"/>
              <a:t> </a:t>
            </a:r>
            <a:r>
              <a:rPr lang="en-US" sz="2400" dirty="0" err="1"/>
              <a:t>berkurang</a:t>
            </a:r>
            <a:r>
              <a:rPr lang="en-US" sz="2400" dirty="0"/>
              <a:t>,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 smtClean="0"/>
              <a:t>tetap</a:t>
            </a:r>
            <a:r>
              <a:rPr lang="en-US" sz="2400" dirty="0" smtClean="0"/>
              <a:t> </a:t>
            </a:r>
            <a:r>
              <a:rPr lang="en-US" sz="2400" dirty="0" err="1" smtClean="0"/>
              <a:t>juga</a:t>
            </a:r>
            <a:r>
              <a:rPr lang="en-US" sz="2400" dirty="0" smtClean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berubah</a:t>
            </a:r>
            <a:r>
              <a:rPr lang="en-US" sz="2400" dirty="0"/>
              <a:t> </a:t>
            </a:r>
            <a:r>
              <a:rPr lang="en-US" sz="2400" dirty="0" err="1"/>
              <a:t>jumlahnya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Semakin</a:t>
            </a:r>
            <a:r>
              <a:rPr lang="en-US" sz="2400" dirty="0" smtClean="0"/>
              <a:t> </a:t>
            </a:r>
            <a:r>
              <a:rPr lang="en-US" sz="2400" dirty="0" err="1"/>
              <a:t>tinggi</a:t>
            </a:r>
            <a:r>
              <a:rPr lang="en-US" sz="2400" dirty="0"/>
              <a:t> volume </a:t>
            </a:r>
            <a:r>
              <a:rPr lang="en-US" sz="2400" dirty="0" err="1"/>
              <a:t>kegiatan</a:t>
            </a:r>
            <a:r>
              <a:rPr lang="en-US" sz="2400" dirty="0"/>
              <a:t> </a:t>
            </a:r>
            <a:r>
              <a:rPr lang="en-US" sz="2400" dirty="0" err="1"/>
              <a:t>semakin</a:t>
            </a:r>
            <a:r>
              <a:rPr lang="en-US" sz="2400" dirty="0"/>
              <a:t> </a:t>
            </a:r>
            <a:r>
              <a:rPr lang="en-US" sz="2400" dirty="0" err="1"/>
              <a:t>rendah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satuan</a:t>
            </a:r>
            <a:r>
              <a:rPr lang="en-US" sz="2400" dirty="0"/>
              <a:t>, </a:t>
            </a:r>
            <a:r>
              <a:rPr lang="en-US" sz="2400" dirty="0" err="1"/>
              <a:t>semakin</a:t>
            </a:r>
            <a:r>
              <a:rPr lang="en-US" sz="2400" dirty="0"/>
              <a:t> </a:t>
            </a:r>
            <a:r>
              <a:rPr lang="en-US" sz="2400" dirty="0" err="1"/>
              <a:t>rendah</a:t>
            </a:r>
            <a:r>
              <a:rPr lang="en-US" sz="2400" dirty="0"/>
              <a:t> volume </a:t>
            </a:r>
            <a:r>
              <a:rPr lang="en-US" sz="2400" dirty="0" err="1"/>
              <a:t>kegiatan</a:t>
            </a:r>
            <a:r>
              <a:rPr lang="en-US" sz="2400" dirty="0"/>
              <a:t> </a:t>
            </a:r>
            <a:r>
              <a:rPr lang="en-US" sz="2400" dirty="0" err="1"/>
              <a:t>semakin</a:t>
            </a:r>
            <a:r>
              <a:rPr lang="en-US" sz="2400" dirty="0"/>
              <a:t> </a:t>
            </a:r>
            <a:r>
              <a:rPr lang="en-US" sz="2400" dirty="0" err="1"/>
              <a:t>tinggi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satuan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Yang </a:t>
            </a:r>
            <a:r>
              <a:rPr lang="en-US" sz="2400" dirty="0" err="1"/>
              <a:t>termasuk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tetap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sewa</a:t>
            </a:r>
            <a:r>
              <a:rPr lang="en-US" sz="2400" dirty="0"/>
              <a:t> </a:t>
            </a:r>
            <a:r>
              <a:rPr lang="en-US" sz="2400" dirty="0" err="1"/>
              <a:t>bangunan</a:t>
            </a:r>
            <a:r>
              <a:rPr lang="en-US" sz="2400" dirty="0"/>
              <a:t>, </a:t>
            </a:r>
            <a:r>
              <a:rPr lang="en-US" sz="2400" dirty="0" err="1"/>
              <a:t>gaji</a:t>
            </a:r>
            <a:r>
              <a:rPr lang="en-US" sz="2400" dirty="0"/>
              <a:t> </a:t>
            </a:r>
            <a:r>
              <a:rPr lang="en-US" sz="2400" dirty="0" err="1"/>
              <a:t>pegawai</a:t>
            </a:r>
            <a:r>
              <a:rPr lang="en-US" sz="2400" dirty="0"/>
              <a:t>, </a:t>
            </a:r>
            <a:r>
              <a:rPr lang="en-US" sz="2400" dirty="0" err="1"/>
              <a:t>asuransi</a:t>
            </a:r>
            <a:r>
              <a:rPr lang="en-US" sz="2400" dirty="0"/>
              <a:t>, </a:t>
            </a:r>
            <a:r>
              <a:rPr lang="en-US" sz="2400" dirty="0" err="1"/>
              <a:t>pajak</a:t>
            </a:r>
            <a:r>
              <a:rPr lang="en-US" sz="2400" dirty="0"/>
              <a:t>, </a:t>
            </a:r>
            <a:r>
              <a:rPr lang="en-US" sz="2400" dirty="0" err="1"/>
              <a:t>sebagian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smtClean="0"/>
              <a:t>overhead </a:t>
            </a:r>
            <a:r>
              <a:rPr lang="en-US" sz="2400" dirty="0" err="1" smtClean="0"/>
              <a:t>pabrik</a:t>
            </a:r>
            <a:r>
              <a:rPr lang="en-US" sz="2400" dirty="0"/>
              <a:t>, </a:t>
            </a:r>
            <a:r>
              <a:rPr lang="en-US" sz="2400" dirty="0" err="1"/>
              <a:t>separuh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pemasaran</a:t>
            </a:r>
            <a:r>
              <a:rPr lang="en-US" sz="2400" dirty="0"/>
              <a:t>, </a:t>
            </a:r>
            <a:r>
              <a:rPr lang="en-US" sz="2400" dirty="0" err="1"/>
              <a:t>serta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administrasi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umum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000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87154" y="321685"/>
            <a:ext cx="15201900" cy="1235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Perilaku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Biaya</a:t>
            </a:r>
            <a:endParaRPr lang="en-US" sz="44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3886200" y="2476500"/>
            <a:ext cx="2743200" cy="1905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solidFill>
                  <a:srgbClr val="FFFF00"/>
                </a:solidFill>
              </a:rPr>
              <a:t>Biaya</a:t>
            </a:r>
            <a:r>
              <a:rPr lang="en-US" sz="2000" b="1" dirty="0" smtClean="0">
                <a:solidFill>
                  <a:srgbClr val="FFFF00"/>
                </a:solidFill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</a:rPr>
              <a:t>Variabel</a:t>
            </a:r>
            <a:endParaRPr lang="en-US" sz="2000" b="1" dirty="0" smtClean="0">
              <a:solidFill>
                <a:srgbClr val="FFFF00"/>
              </a:solidFill>
            </a:endParaRPr>
          </a:p>
          <a:p>
            <a:pPr algn="ctr"/>
            <a:r>
              <a:rPr lang="en-US" sz="2000" b="1" dirty="0" smtClean="0">
                <a:solidFill>
                  <a:srgbClr val="FFFF00"/>
                </a:solidFill>
              </a:rPr>
              <a:t>(X1)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3907809" y="4988674"/>
            <a:ext cx="2743200" cy="1905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solidFill>
                  <a:srgbClr val="FFFF00"/>
                </a:solidFill>
              </a:rPr>
              <a:t>Biaya</a:t>
            </a:r>
            <a:r>
              <a:rPr lang="en-US" sz="2000" b="1" dirty="0" smtClean="0">
                <a:solidFill>
                  <a:srgbClr val="FFFF00"/>
                </a:solidFill>
              </a:rPr>
              <a:t> </a:t>
            </a:r>
            <a:r>
              <a:rPr lang="en-US" sz="2000" b="1" dirty="0" err="1" smtClean="0">
                <a:solidFill>
                  <a:srgbClr val="FFFF00"/>
                </a:solidFill>
              </a:rPr>
              <a:t>Tetap</a:t>
            </a:r>
            <a:endParaRPr lang="en-US" sz="2000" b="1" dirty="0" smtClean="0">
              <a:solidFill>
                <a:srgbClr val="FFFF00"/>
              </a:solidFill>
            </a:endParaRPr>
          </a:p>
          <a:p>
            <a:pPr algn="ctr"/>
            <a:r>
              <a:rPr lang="en-US" sz="2000" b="1" dirty="0" smtClean="0">
                <a:solidFill>
                  <a:srgbClr val="FFFF00"/>
                </a:solidFill>
              </a:rPr>
              <a:t>(X2)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8686800" y="3798679"/>
            <a:ext cx="2743200" cy="1905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solidFill>
                  <a:srgbClr val="FFFF00"/>
                </a:solidFill>
              </a:rPr>
              <a:t>Harga</a:t>
            </a:r>
            <a:r>
              <a:rPr lang="en-US" sz="2000" b="1" dirty="0" smtClean="0">
                <a:solidFill>
                  <a:srgbClr val="FFFF00"/>
                </a:solidFill>
              </a:rPr>
              <a:t> </a:t>
            </a:r>
            <a:r>
              <a:rPr lang="en-US" sz="2000" b="1" dirty="0" err="1">
                <a:solidFill>
                  <a:srgbClr val="FFFF00"/>
                </a:solidFill>
              </a:rPr>
              <a:t>T</a:t>
            </a:r>
            <a:r>
              <a:rPr lang="en-US" sz="2000" b="1" dirty="0" err="1" smtClean="0">
                <a:solidFill>
                  <a:srgbClr val="FFFF00"/>
                </a:solidFill>
              </a:rPr>
              <a:t>etap</a:t>
            </a:r>
            <a:endParaRPr lang="en-US" sz="2000" b="1" dirty="0" smtClean="0">
              <a:solidFill>
                <a:srgbClr val="FFFF00"/>
              </a:solidFill>
            </a:endParaRPr>
          </a:p>
          <a:p>
            <a:pPr algn="ctr"/>
            <a:r>
              <a:rPr lang="en-US" sz="2000" b="1" dirty="0" smtClean="0">
                <a:solidFill>
                  <a:srgbClr val="FFFF00"/>
                </a:solidFill>
              </a:rPr>
              <a:t>(Y)</a:t>
            </a:r>
            <a:endParaRPr lang="en-US" sz="2000" b="1" dirty="0">
              <a:solidFill>
                <a:srgbClr val="FFFF00"/>
              </a:solidFill>
            </a:endParaRPr>
          </a:p>
        </p:txBody>
      </p:sp>
      <p:cxnSp>
        <p:nvCxnSpPr>
          <p:cNvPr id="23" name="Straight Arrow Connector 22"/>
          <p:cNvCxnSpPr>
            <a:stCxn id="17" idx="6"/>
            <a:endCxn id="22" idx="2"/>
          </p:cNvCxnSpPr>
          <p:nvPr/>
        </p:nvCxnSpPr>
        <p:spPr>
          <a:xfrm>
            <a:off x="6629400" y="3429000"/>
            <a:ext cx="2057400" cy="132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6"/>
            <a:endCxn id="22" idx="2"/>
          </p:cNvCxnSpPr>
          <p:nvPr/>
        </p:nvCxnSpPr>
        <p:spPr>
          <a:xfrm flipV="1">
            <a:off x="6651009" y="4751179"/>
            <a:ext cx="2035791" cy="1189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425451" y="2367068"/>
            <a:ext cx="664702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Perilaku</a:t>
            </a:r>
            <a:r>
              <a:rPr lang="en-US" dirty="0"/>
              <a:t> </a:t>
            </a:r>
            <a:r>
              <a:rPr lang="en-US" dirty="0" err="1" smtClean="0"/>
              <a:t>biaya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Berhubungan</a:t>
            </a:r>
            <a:r>
              <a:rPr lang="en-US" dirty="0" smtClean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total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per unit yang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output (</a:t>
            </a:r>
            <a:r>
              <a:rPr lang="en-US" dirty="0" err="1"/>
              <a:t>tingkat</a:t>
            </a:r>
            <a:r>
              <a:rPr lang="en-US" dirty="0"/>
              <a:t>) driver </a:t>
            </a:r>
            <a:r>
              <a:rPr lang="en-US" dirty="0" err="1"/>
              <a:t>aktivitas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Pengkajian</a:t>
            </a:r>
            <a:r>
              <a:rPr lang="en-US" dirty="0" smtClean="0"/>
              <a:t> </a:t>
            </a:r>
            <a:r>
              <a:rPr lang="en-US" dirty="0" err="1"/>
              <a:t>perilaku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manfaat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lain: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memudahkan</a:t>
            </a:r>
            <a:r>
              <a:rPr lang="en-US" dirty="0" smtClean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perencanaan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,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memudahkan</a:t>
            </a:r>
            <a:r>
              <a:rPr lang="en-US" dirty="0" smtClean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memudahkan</a:t>
            </a:r>
            <a:r>
              <a:rPr lang="en-US" dirty="0" smtClean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Bila</a:t>
            </a:r>
            <a:r>
              <a:rPr lang="en-US" dirty="0" smtClean="0"/>
              <a:t> </a:t>
            </a:r>
            <a:r>
              <a:rPr lang="en-US" dirty="0" err="1"/>
              <a:t>dilihat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perilaku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,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diklasifikasikan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: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,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semi </a:t>
            </a:r>
            <a:r>
              <a:rPr lang="en-US" dirty="0" err="1"/>
              <a:t>variabel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500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87154" y="321685"/>
            <a:ext cx="15201900" cy="1235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Manajemen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Risiko</a:t>
            </a:r>
            <a:endParaRPr lang="en-US" sz="44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342031" y="4838700"/>
            <a:ext cx="664702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2400" dirty="0" err="1"/>
              <a:t>Penghindaran</a:t>
            </a:r>
            <a:r>
              <a:rPr lang="en-US" sz="2400" dirty="0"/>
              <a:t> </a:t>
            </a:r>
            <a:r>
              <a:rPr lang="en-US" sz="2400" dirty="0" err="1" smtClean="0"/>
              <a:t>risiko</a:t>
            </a:r>
            <a:endParaRPr lang="en-US" sz="2400" dirty="0" smtClean="0"/>
          </a:p>
          <a:p>
            <a:pPr marL="342900" indent="-342900">
              <a:buFont typeface="+mj-lt"/>
              <a:buAutoNum type="arabicParenR"/>
            </a:pPr>
            <a:r>
              <a:rPr lang="en-US" sz="2400" dirty="0" err="1"/>
              <a:t>Pengurangan</a:t>
            </a:r>
            <a:r>
              <a:rPr lang="en-US" sz="2400" dirty="0"/>
              <a:t> </a:t>
            </a:r>
            <a:r>
              <a:rPr lang="en-US" sz="2400" dirty="0" err="1"/>
              <a:t>risiko</a:t>
            </a:r>
            <a:r>
              <a:rPr lang="en-US" sz="2400" dirty="0"/>
              <a:t> </a:t>
            </a:r>
            <a:endParaRPr lang="en-US" sz="2400" dirty="0" smtClean="0"/>
          </a:p>
          <a:p>
            <a:pPr marL="342900" indent="-342900">
              <a:buFont typeface="+mj-lt"/>
              <a:buAutoNum type="arabicParenR"/>
            </a:pPr>
            <a:r>
              <a:rPr lang="en-US" sz="2400" dirty="0" err="1"/>
              <a:t>Berbagi</a:t>
            </a:r>
            <a:r>
              <a:rPr lang="en-US" sz="2400" dirty="0"/>
              <a:t> </a:t>
            </a:r>
            <a:r>
              <a:rPr lang="en-US" sz="2400" dirty="0" err="1" smtClean="0"/>
              <a:t>risiko</a:t>
            </a:r>
            <a:endParaRPr lang="en-US" sz="2400" dirty="0" smtClean="0"/>
          </a:p>
          <a:p>
            <a:pPr marL="342900" indent="-342900">
              <a:buFont typeface="+mj-lt"/>
              <a:buAutoNum type="arabicParenR"/>
            </a:pPr>
            <a:r>
              <a:rPr lang="en-US" sz="2400" dirty="0" err="1"/>
              <a:t>Retensi</a:t>
            </a:r>
            <a:r>
              <a:rPr lang="en-US" sz="2400" dirty="0"/>
              <a:t> </a:t>
            </a:r>
            <a:r>
              <a:rPr lang="en-US" sz="2400" dirty="0" err="1"/>
              <a:t>risiko</a:t>
            </a:r>
            <a:r>
              <a:rPr lang="en-US" sz="2400" dirty="0"/>
              <a:t> </a:t>
            </a:r>
            <a:endParaRPr lang="en-US" sz="2400" dirty="0" smtClean="0"/>
          </a:p>
          <a:p>
            <a:pPr marL="342900" indent="-342900">
              <a:buFont typeface="+mj-lt"/>
              <a:buAutoNum type="arabicParenR"/>
            </a:pPr>
            <a:r>
              <a:rPr lang="en-US" sz="2400" dirty="0" err="1"/>
              <a:t>Mengoptimalisasikan</a:t>
            </a:r>
            <a:r>
              <a:rPr lang="en-US" sz="2400" dirty="0"/>
              <a:t> </a:t>
            </a:r>
            <a:r>
              <a:rPr lang="en-US" sz="2400" dirty="0" err="1"/>
              <a:t>perlakuan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 smtClean="0"/>
              <a:t>mempertimbangkannya</a:t>
            </a:r>
            <a:endParaRPr lang="en-US" sz="2400" dirty="0" smtClean="0"/>
          </a:p>
          <a:p>
            <a:pPr marL="342900" indent="-342900">
              <a:buFont typeface="+mj-lt"/>
              <a:buAutoNum type="arabicParenR"/>
            </a:pPr>
            <a:r>
              <a:rPr lang="en-US" sz="2400" dirty="0" err="1"/>
              <a:t>Efektivitas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 smtClean="0"/>
              <a:t>pengendalian</a:t>
            </a:r>
            <a:endParaRPr lang="en-US" sz="2400" dirty="0" smtClean="0"/>
          </a:p>
          <a:p>
            <a:pPr marL="342900" indent="-342900">
              <a:buFont typeface="+mj-lt"/>
              <a:buAutoNum type="arabicParenR"/>
            </a:pPr>
            <a:r>
              <a:rPr lang="en-US" sz="2400" dirty="0" err="1"/>
              <a:t>Memahami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</a:t>
            </a:r>
            <a:r>
              <a:rPr lang="en-US" sz="2400" dirty="0" err="1"/>
              <a:t>penyebab</a:t>
            </a:r>
            <a:r>
              <a:rPr lang="en-US" sz="2400" dirty="0"/>
              <a:t> </a:t>
            </a:r>
            <a:endParaRPr lang="en-US" sz="2400" dirty="0" smtClean="0"/>
          </a:p>
          <a:p>
            <a:pPr marL="342900" indent="-342900">
              <a:buFont typeface="+mj-lt"/>
              <a:buAutoNum type="arabicParenR"/>
            </a:pPr>
            <a:r>
              <a:rPr lang="nl-NL" sz="2400" dirty="0"/>
              <a:t>Pembiayaan dan manfaat dalam penanganan </a:t>
            </a:r>
            <a:r>
              <a:rPr lang="nl-NL" sz="2400" dirty="0" smtClean="0"/>
              <a:t>risiko</a:t>
            </a:r>
          </a:p>
          <a:p>
            <a:pPr marL="342900" indent="-342900">
              <a:buFont typeface="+mj-lt"/>
              <a:buAutoNum type="arabicParenR"/>
            </a:pPr>
            <a:r>
              <a:rPr lang="nb-NO" sz="2400" dirty="0"/>
              <a:t>Pembiayaan dan manfaat dalam mengambil </a:t>
            </a:r>
            <a:r>
              <a:rPr lang="nb-NO" sz="2400" dirty="0" smtClean="0"/>
              <a:t>risiko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400" dirty="0" err="1"/>
              <a:t>Perlakuan</a:t>
            </a:r>
            <a:r>
              <a:rPr lang="en-US" sz="2400" dirty="0"/>
              <a:t>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selera</a:t>
            </a:r>
            <a:r>
              <a:rPr lang="en-US" sz="2400" dirty="0"/>
              <a:t> </a:t>
            </a:r>
            <a:r>
              <a:rPr lang="en-US" sz="2400" dirty="0" err="1"/>
              <a:t>risiko</a:t>
            </a:r>
            <a:r>
              <a:rPr lang="en-US" sz="2400" dirty="0"/>
              <a:t> </a:t>
            </a:r>
            <a:endParaRPr lang="en-US" sz="2400" dirty="0" smtClean="0"/>
          </a:p>
          <a:p>
            <a:pPr marL="342900" indent="-342900">
              <a:buFont typeface="+mj-lt"/>
              <a:buAutoNum type="arabicParenR"/>
            </a:pPr>
            <a:r>
              <a:rPr lang="en-US" sz="2400" dirty="0" err="1"/>
              <a:t>Pengawasan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umpan</a:t>
            </a:r>
            <a:r>
              <a:rPr lang="en-US" sz="2400" dirty="0"/>
              <a:t> </a:t>
            </a:r>
            <a:r>
              <a:rPr lang="en-US" sz="2400" dirty="0" err="1"/>
              <a:t>balik</a:t>
            </a:r>
            <a:endParaRPr lang="en-US" sz="2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31" y="3725523"/>
            <a:ext cx="8106747" cy="527703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686800" y="2196686"/>
            <a:ext cx="7315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err="1"/>
              <a:t>Manajemen</a:t>
            </a:r>
            <a:r>
              <a:rPr lang="en-US" sz="2000" dirty="0"/>
              <a:t> </a:t>
            </a:r>
            <a:r>
              <a:rPr lang="en-US" sz="2000" dirty="0" err="1" smtClean="0"/>
              <a:t>risiko</a:t>
            </a:r>
            <a:r>
              <a:rPr lang="en-US" sz="2000" dirty="0" smtClean="0"/>
              <a:t>:</a:t>
            </a:r>
          </a:p>
          <a:p>
            <a:pPr algn="just"/>
            <a:r>
              <a:rPr lang="en-US" sz="2000" dirty="0" smtClean="0"/>
              <a:t>Proses </a:t>
            </a:r>
            <a:r>
              <a:rPr lang="en-US" sz="2000" dirty="0" err="1"/>
              <a:t>organisasi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mengidentifikasi</a:t>
            </a:r>
            <a:r>
              <a:rPr lang="en-US" sz="2000" dirty="0"/>
              <a:t>, </a:t>
            </a:r>
            <a:r>
              <a:rPr lang="en-US" sz="2000" dirty="0" err="1"/>
              <a:t>menilai</a:t>
            </a:r>
            <a:r>
              <a:rPr lang="en-US" sz="2000" dirty="0"/>
              <a:t>,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mengendalikan</a:t>
            </a:r>
            <a:r>
              <a:rPr lang="en-US" sz="2000" dirty="0"/>
              <a:t> </a:t>
            </a:r>
            <a:r>
              <a:rPr lang="en-US" sz="2000" dirty="0" err="1"/>
              <a:t>berbagai</a:t>
            </a:r>
            <a:r>
              <a:rPr lang="en-US" sz="2000" dirty="0"/>
              <a:t> </a:t>
            </a:r>
            <a:r>
              <a:rPr lang="en-US" sz="2000" dirty="0" err="1"/>
              <a:t>ancaman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tantangan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</a:t>
            </a:r>
            <a:r>
              <a:rPr lang="en-US" sz="2000" dirty="0" err="1"/>
              <a:t>pencapaian</a:t>
            </a:r>
            <a:r>
              <a:rPr lang="en-US" sz="2000" dirty="0"/>
              <a:t> </a:t>
            </a:r>
            <a:r>
              <a:rPr lang="en-US" sz="2000" dirty="0" err="1"/>
              <a:t>tujuan</a:t>
            </a:r>
            <a:r>
              <a:rPr lang="en-US" sz="2000" dirty="0"/>
              <a:t>. </a:t>
            </a:r>
            <a:r>
              <a:rPr lang="en-US" sz="2000" dirty="0" err="1"/>
              <a:t>Sumber</a:t>
            </a:r>
            <a:r>
              <a:rPr lang="en-US" sz="2000" dirty="0"/>
              <a:t> </a:t>
            </a:r>
            <a:r>
              <a:rPr lang="en-US" sz="2000" dirty="0" err="1"/>
              <a:t>ancaman</a:t>
            </a:r>
            <a:r>
              <a:rPr lang="en-US" sz="2000" dirty="0"/>
              <a:t>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disebabkan</a:t>
            </a:r>
            <a:r>
              <a:rPr lang="en-US" sz="2000" dirty="0"/>
              <a:t>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dirty="0" err="1"/>
              <a:t>adanya</a:t>
            </a:r>
            <a:r>
              <a:rPr lang="en-US" sz="2000" dirty="0"/>
              <a:t> </a:t>
            </a:r>
            <a:r>
              <a:rPr lang="en-US" sz="2000" dirty="0" err="1"/>
              <a:t>ketidakpastian</a:t>
            </a:r>
            <a:r>
              <a:rPr lang="en-US" sz="2000" dirty="0"/>
              <a:t> </a:t>
            </a:r>
            <a:r>
              <a:rPr lang="en-US" sz="2000" dirty="0" err="1"/>
              <a:t>keuangan</a:t>
            </a:r>
            <a:r>
              <a:rPr lang="en-US" sz="2000" dirty="0"/>
              <a:t>, </a:t>
            </a:r>
            <a:r>
              <a:rPr lang="en-US" sz="2000" dirty="0" err="1"/>
              <a:t>kewajiban</a:t>
            </a:r>
            <a:r>
              <a:rPr lang="en-US" sz="2000" dirty="0"/>
              <a:t> </a:t>
            </a:r>
            <a:r>
              <a:rPr lang="en-US" sz="2000" dirty="0" err="1"/>
              <a:t>hukum</a:t>
            </a:r>
            <a:r>
              <a:rPr lang="en-US" sz="2000" dirty="0"/>
              <a:t>, </a:t>
            </a:r>
            <a:r>
              <a:rPr lang="en-US" sz="2000" dirty="0" err="1"/>
              <a:t>kesalahan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strategi</a:t>
            </a:r>
            <a:r>
              <a:rPr lang="en-US" sz="2000" dirty="0"/>
              <a:t> </a:t>
            </a:r>
            <a:r>
              <a:rPr lang="en-US" sz="2000" dirty="0" err="1"/>
              <a:t>manajemen</a:t>
            </a:r>
            <a:r>
              <a:rPr lang="en-US" sz="2000" dirty="0"/>
              <a:t>, </a:t>
            </a:r>
            <a:r>
              <a:rPr lang="en-US" sz="2000" dirty="0" err="1"/>
              <a:t>kecelakaan</a:t>
            </a:r>
            <a:r>
              <a:rPr lang="en-US" sz="2000" dirty="0"/>
              <a:t> </a:t>
            </a:r>
            <a:r>
              <a:rPr lang="en-US" sz="2000" dirty="0" err="1"/>
              <a:t>ataupun</a:t>
            </a:r>
            <a:r>
              <a:rPr lang="en-US" sz="2000" dirty="0"/>
              <a:t> </a:t>
            </a:r>
            <a:r>
              <a:rPr lang="en-US" sz="2000" dirty="0" err="1"/>
              <a:t>bencana</a:t>
            </a:r>
            <a:r>
              <a:rPr lang="en-US" sz="2000" dirty="0"/>
              <a:t> </a:t>
            </a:r>
            <a:r>
              <a:rPr lang="en-US" sz="2000" dirty="0" err="1"/>
              <a:t>alam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79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416497" y="182563"/>
            <a:ext cx="15490503" cy="1271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5400" dirty="0" err="1" smtClean="0">
                <a:solidFill>
                  <a:srgbClr val="7030A0"/>
                </a:solidFill>
                <a:latin typeface="Poppins Ultra-Bold"/>
              </a:rPr>
              <a:t>Contoh</a:t>
            </a:r>
            <a:r>
              <a:rPr lang="en-US" sz="5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5400" dirty="0" err="1" smtClean="0">
                <a:solidFill>
                  <a:srgbClr val="7030A0"/>
                </a:solidFill>
                <a:latin typeface="Poppins Ultra-Bold"/>
              </a:rPr>
              <a:t>Penyusunan</a:t>
            </a:r>
            <a:r>
              <a:rPr lang="en-US" sz="5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5400" dirty="0" err="1" smtClean="0">
                <a:solidFill>
                  <a:srgbClr val="7030A0"/>
                </a:solidFill>
                <a:latin typeface="Poppins Ultra-Bold"/>
              </a:rPr>
              <a:t>Laba</a:t>
            </a:r>
            <a:r>
              <a:rPr lang="en-US" sz="5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5400" dirty="0" err="1" smtClean="0">
                <a:solidFill>
                  <a:srgbClr val="7030A0"/>
                </a:solidFill>
                <a:latin typeface="Poppins Ultra-Bold"/>
              </a:rPr>
              <a:t>Rugi</a:t>
            </a:r>
            <a:endParaRPr lang="en-US" sz="60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6248400" y="2266478"/>
            <a:ext cx="8229600" cy="4525963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/>
              <a:t>Model Single Step</a:t>
            </a: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 err="1">
                <a:solidFill>
                  <a:srgbClr val="7030A0"/>
                </a:solidFill>
              </a:rPr>
              <a:t>Pendapatan</a:t>
            </a:r>
            <a:r>
              <a:rPr lang="en-US" dirty="0">
                <a:solidFill>
                  <a:srgbClr val="7030A0"/>
                </a:solidFill>
              </a:rPr>
              <a:t> 	</a:t>
            </a:r>
            <a:r>
              <a:rPr lang="en-US" dirty="0" err="1">
                <a:solidFill>
                  <a:srgbClr val="7030A0"/>
                </a:solidFill>
              </a:rPr>
              <a:t>Jasa</a:t>
            </a:r>
            <a:r>
              <a:rPr lang="en-US" dirty="0">
                <a:solidFill>
                  <a:srgbClr val="7030A0"/>
                </a:solidFill>
              </a:rPr>
              <a:t>						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 err="1">
                <a:solidFill>
                  <a:srgbClr val="7030A0"/>
                </a:solidFill>
              </a:rPr>
              <a:t>Pendapatan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bunga</a:t>
            </a:r>
            <a:r>
              <a:rPr lang="en-US" dirty="0">
                <a:solidFill>
                  <a:srgbClr val="7030A0"/>
                </a:solidFill>
              </a:rPr>
              <a:t>						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7030A0"/>
                </a:solidFill>
              </a:rPr>
              <a:t>Total </a:t>
            </a:r>
            <a:r>
              <a:rPr lang="en-US" b="1" dirty="0" err="1">
                <a:solidFill>
                  <a:srgbClr val="7030A0"/>
                </a:solidFill>
              </a:rPr>
              <a:t>Pendapatan</a:t>
            </a:r>
            <a:r>
              <a:rPr lang="en-US" b="1" dirty="0">
                <a:solidFill>
                  <a:srgbClr val="7030A0"/>
                </a:solidFill>
              </a:rPr>
              <a:t>						 XXX</a:t>
            </a:r>
            <a:endParaRPr lang="en-US" dirty="0">
              <a:solidFill>
                <a:srgbClr val="7030A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 err="1">
                <a:solidFill>
                  <a:srgbClr val="7030A0"/>
                </a:solidFill>
              </a:rPr>
              <a:t>Biaya</a:t>
            </a:r>
            <a:r>
              <a:rPr lang="en-US" dirty="0">
                <a:solidFill>
                  <a:srgbClr val="7030A0"/>
                </a:solidFill>
              </a:rPr>
              <a:t>…………………..						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 err="1">
                <a:solidFill>
                  <a:srgbClr val="7030A0"/>
                </a:solidFill>
              </a:rPr>
              <a:t>Biaya</a:t>
            </a:r>
            <a:r>
              <a:rPr lang="en-US" dirty="0">
                <a:solidFill>
                  <a:srgbClr val="7030A0"/>
                </a:solidFill>
              </a:rPr>
              <a:t>………………….						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7030A0"/>
                </a:solidFill>
              </a:rPr>
              <a:t>Total </a:t>
            </a:r>
            <a:r>
              <a:rPr lang="en-US" b="1" dirty="0" err="1">
                <a:solidFill>
                  <a:srgbClr val="7030A0"/>
                </a:solidFill>
              </a:rPr>
              <a:t>Biaya</a:t>
            </a:r>
            <a:r>
              <a:rPr lang="en-US" b="1" dirty="0">
                <a:solidFill>
                  <a:srgbClr val="7030A0"/>
                </a:solidFill>
              </a:rPr>
              <a:t>				  	           	         (XXX)</a:t>
            </a:r>
            <a:endParaRPr lang="en-US" dirty="0">
              <a:solidFill>
                <a:srgbClr val="7030A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 err="1">
                <a:solidFill>
                  <a:srgbClr val="7030A0"/>
                </a:solidFill>
              </a:rPr>
              <a:t>Laba</a:t>
            </a:r>
            <a:r>
              <a:rPr lang="en-US" b="1" dirty="0">
                <a:solidFill>
                  <a:srgbClr val="7030A0"/>
                </a:solidFill>
              </a:rPr>
              <a:t> / </a:t>
            </a:r>
            <a:r>
              <a:rPr lang="en-US" b="1" dirty="0" err="1">
                <a:solidFill>
                  <a:srgbClr val="7030A0"/>
                </a:solidFill>
              </a:rPr>
              <a:t>Rugi</a:t>
            </a:r>
            <a:r>
              <a:rPr lang="en-US" b="1" dirty="0">
                <a:solidFill>
                  <a:srgbClr val="7030A0"/>
                </a:solidFill>
              </a:rPr>
              <a:t> Usaha					          XXX</a:t>
            </a:r>
            <a:endParaRPr lang="en-US" dirty="0">
              <a:solidFill>
                <a:srgbClr val="7030A0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76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286000" y="182563"/>
            <a:ext cx="14973300" cy="1314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6000" dirty="0" err="1" smtClean="0">
                <a:solidFill>
                  <a:srgbClr val="7030A0"/>
                </a:solidFill>
                <a:latin typeface="Poppins Ultra-Bold"/>
              </a:rPr>
              <a:t>Contoh</a:t>
            </a:r>
            <a:r>
              <a:rPr lang="en-US" sz="60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6000" dirty="0" err="1" smtClean="0">
                <a:solidFill>
                  <a:srgbClr val="7030A0"/>
                </a:solidFill>
                <a:latin typeface="Poppins Ultra-Bold"/>
              </a:rPr>
              <a:t>Penyusunan</a:t>
            </a:r>
            <a:r>
              <a:rPr lang="en-US" sz="60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6000" dirty="0" err="1" smtClean="0">
                <a:solidFill>
                  <a:srgbClr val="7030A0"/>
                </a:solidFill>
                <a:latin typeface="Poppins Ultra-Bold"/>
              </a:rPr>
              <a:t>Laba</a:t>
            </a:r>
            <a:r>
              <a:rPr lang="en-US" sz="60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6000" dirty="0" err="1" smtClean="0">
                <a:solidFill>
                  <a:srgbClr val="7030A0"/>
                </a:solidFill>
                <a:latin typeface="Poppins Ultra-Bold"/>
              </a:rPr>
              <a:t>Rugi</a:t>
            </a:r>
            <a:endParaRPr lang="en-US" sz="60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7067521" y="1415937"/>
            <a:ext cx="8229600" cy="5029200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b="1" dirty="0">
                <a:solidFill>
                  <a:srgbClr val="7030A0"/>
                </a:solidFill>
              </a:rPr>
              <a:t>Multiple Step</a:t>
            </a:r>
          </a:p>
          <a:p>
            <a:pPr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900" dirty="0">
              <a:solidFill>
                <a:srgbClr val="7030A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Penjualan</a:t>
            </a:r>
            <a:r>
              <a:rPr lang="en-US" sz="1800" dirty="0">
                <a:solidFill>
                  <a:srgbClr val="7030A0"/>
                </a:solidFill>
              </a:rPr>
              <a:t>				 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Retur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dan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Potongan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Penjualan</a:t>
            </a:r>
            <a:r>
              <a:rPr lang="en-US" sz="1800" dirty="0">
                <a:solidFill>
                  <a:srgbClr val="7030A0"/>
                </a:solidFill>
              </a:rPr>
              <a:t>		(xxx)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b="1" dirty="0" err="1">
                <a:solidFill>
                  <a:srgbClr val="7030A0"/>
                </a:solidFill>
              </a:rPr>
              <a:t>Penjualan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 err="1">
                <a:solidFill>
                  <a:srgbClr val="7030A0"/>
                </a:solidFill>
              </a:rPr>
              <a:t>Bersih</a:t>
            </a:r>
            <a:r>
              <a:rPr lang="en-US" sz="1800" b="1" dirty="0">
                <a:solidFill>
                  <a:srgbClr val="7030A0"/>
                </a:solidFill>
              </a:rPr>
              <a:t>			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b="1" dirty="0" err="1">
                <a:solidFill>
                  <a:srgbClr val="7030A0"/>
                </a:solidFill>
              </a:rPr>
              <a:t>h</a:t>
            </a:r>
            <a:r>
              <a:rPr lang="en-US" sz="1800" dirty="0" err="1">
                <a:solidFill>
                  <a:srgbClr val="7030A0"/>
                </a:solidFill>
              </a:rPr>
              <a:t>arga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Pokok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Penjualan</a:t>
            </a:r>
            <a:r>
              <a:rPr lang="en-US" sz="1800" dirty="0">
                <a:solidFill>
                  <a:srgbClr val="7030A0"/>
                </a:solidFill>
              </a:rPr>
              <a:t> 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Persediaan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awal</a:t>
            </a:r>
            <a:r>
              <a:rPr lang="en-US" sz="1800" dirty="0">
                <a:solidFill>
                  <a:srgbClr val="7030A0"/>
                </a:solidFill>
              </a:rPr>
              <a:t>		 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Pembelian</a:t>
            </a:r>
            <a:r>
              <a:rPr lang="en-US" sz="1800" dirty="0">
                <a:solidFill>
                  <a:srgbClr val="7030A0"/>
                </a:solidFill>
              </a:rPr>
              <a:t>			 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Retur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dan</a:t>
            </a:r>
            <a:r>
              <a:rPr lang="en-US" sz="1800" dirty="0">
                <a:solidFill>
                  <a:srgbClr val="7030A0"/>
                </a:solidFill>
              </a:rPr>
              <a:t> Pot. </a:t>
            </a:r>
            <a:r>
              <a:rPr lang="en-US" sz="1800" dirty="0" err="1">
                <a:solidFill>
                  <a:srgbClr val="7030A0"/>
                </a:solidFill>
              </a:rPr>
              <a:t>Pembelian</a:t>
            </a:r>
            <a:r>
              <a:rPr lang="en-US" sz="1800" dirty="0">
                <a:solidFill>
                  <a:srgbClr val="7030A0"/>
                </a:solidFill>
              </a:rPr>
              <a:t>	(xxx)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Barang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Siap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Dijual</a:t>
            </a:r>
            <a:r>
              <a:rPr lang="en-US" sz="1800" dirty="0">
                <a:solidFill>
                  <a:srgbClr val="7030A0"/>
                </a:solidFill>
              </a:rPr>
              <a:t>		 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Persediaan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Akhir</a:t>
            </a:r>
            <a:r>
              <a:rPr lang="en-US" sz="1800" dirty="0">
                <a:solidFill>
                  <a:srgbClr val="7030A0"/>
                </a:solidFill>
              </a:rPr>
              <a:t>		(xxx)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b="1" dirty="0" err="1">
                <a:solidFill>
                  <a:srgbClr val="7030A0"/>
                </a:solidFill>
              </a:rPr>
              <a:t>Harga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 err="1">
                <a:solidFill>
                  <a:srgbClr val="7030A0"/>
                </a:solidFill>
              </a:rPr>
              <a:t>Pokok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 err="1">
                <a:solidFill>
                  <a:srgbClr val="7030A0"/>
                </a:solidFill>
              </a:rPr>
              <a:t>Penjualan</a:t>
            </a:r>
            <a:r>
              <a:rPr lang="en-US" sz="1800" b="1" dirty="0">
                <a:solidFill>
                  <a:srgbClr val="7030A0"/>
                </a:solidFill>
              </a:rPr>
              <a:t>			(XXX)</a:t>
            </a:r>
            <a:endParaRPr lang="en-US" sz="1800" dirty="0">
              <a:solidFill>
                <a:srgbClr val="7030A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b="1" dirty="0" err="1">
                <a:solidFill>
                  <a:srgbClr val="7030A0"/>
                </a:solidFill>
              </a:rPr>
              <a:t>Laba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 err="1">
                <a:solidFill>
                  <a:srgbClr val="7030A0"/>
                </a:solidFill>
              </a:rPr>
              <a:t>Kotor</a:t>
            </a:r>
            <a:r>
              <a:rPr lang="en-US" sz="1800" b="1" dirty="0">
                <a:solidFill>
                  <a:srgbClr val="7030A0"/>
                </a:solidFill>
              </a:rPr>
              <a:t>				  XXX</a:t>
            </a:r>
            <a:endParaRPr lang="en-US" sz="1800" dirty="0">
              <a:solidFill>
                <a:srgbClr val="7030A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Biaya</a:t>
            </a:r>
            <a:r>
              <a:rPr lang="en-US" sz="1800" dirty="0">
                <a:solidFill>
                  <a:srgbClr val="7030A0"/>
                </a:solidFill>
              </a:rPr>
              <a:t> Usaha				(XXX)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b="1" dirty="0" err="1">
                <a:solidFill>
                  <a:srgbClr val="7030A0"/>
                </a:solidFill>
              </a:rPr>
              <a:t>Laba</a:t>
            </a:r>
            <a:r>
              <a:rPr lang="en-US" sz="1800" b="1" dirty="0">
                <a:solidFill>
                  <a:srgbClr val="7030A0"/>
                </a:solidFill>
              </a:rPr>
              <a:t> Usaha				 XXX</a:t>
            </a:r>
            <a:endParaRPr lang="en-US" sz="1800" dirty="0">
              <a:solidFill>
                <a:srgbClr val="7030A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Pendapatan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dan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Biaya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diluar</a:t>
            </a:r>
            <a:r>
              <a:rPr lang="en-US" sz="1800" dirty="0">
                <a:solidFill>
                  <a:srgbClr val="7030A0"/>
                </a:solidFill>
              </a:rPr>
              <a:t> Usaha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Pendapatan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Diluar</a:t>
            </a:r>
            <a:r>
              <a:rPr lang="en-US" sz="1800" dirty="0">
                <a:solidFill>
                  <a:srgbClr val="7030A0"/>
                </a:solidFill>
              </a:rPr>
              <a:t> Usaha		 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Biaya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Diluar</a:t>
            </a:r>
            <a:r>
              <a:rPr lang="en-US" sz="1800" dirty="0">
                <a:solidFill>
                  <a:srgbClr val="7030A0"/>
                </a:solidFill>
              </a:rPr>
              <a:t> Usaha		(xxx)	XXX +/-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b="1" dirty="0" err="1">
                <a:solidFill>
                  <a:srgbClr val="7030A0"/>
                </a:solidFill>
              </a:rPr>
              <a:t>Laba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 err="1">
                <a:solidFill>
                  <a:srgbClr val="7030A0"/>
                </a:solidFill>
              </a:rPr>
              <a:t>Sebelum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 err="1">
                <a:solidFill>
                  <a:srgbClr val="7030A0"/>
                </a:solidFill>
              </a:rPr>
              <a:t>Pajak</a:t>
            </a:r>
            <a:r>
              <a:rPr lang="en-US" sz="1800" b="1" dirty="0">
                <a:solidFill>
                  <a:srgbClr val="7030A0"/>
                </a:solidFill>
              </a:rPr>
              <a:t>			XXX</a:t>
            </a:r>
            <a:endParaRPr lang="en-US" sz="1800" dirty="0">
              <a:solidFill>
                <a:srgbClr val="7030A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Pajak</a:t>
            </a:r>
            <a:r>
              <a:rPr lang="en-US" sz="1800" dirty="0">
                <a:solidFill>
                  <a:srgbClr val="7030A0"/>
                </a:solidFill>
              </a:rPr>
              <a:t>				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b="1" dirty="0" err="1">
                <a:solidFill>
                  <a:srgbClr val="7030A0"/>
                </a:solidFill>
              </a:rPr>
              <a:t>Laba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 err="1">
                <a:solidFill>
                  <a:srgbClr val="7030A0"/>
                </a:solidFill>
              </a:rPr>
              <a:t>Setelah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 err="1">
                <a:solidFill>
                  <a:srgbClr val="7030A0"/>
                </a:solidFill>
              </a:rPr>
              <a:t>Pajak</a:t>
            </a:r>
            <a:r>
              <a:rPr lang="en-US" sz="1800" b="1" dirty="0">
                <a:solidFill>
                  <a:srgbClr val="7030A0"/>
                </a:solidFill>
              </a:rPr>
              <a:t>			XXX</a:t>
            </a:r>
            <a:endParaRPr lang="en-US" sz="1800" dirty="0">
              <a:solidFill>
                <a:srgbClr val="7030A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Laba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Ditahan</a:t>
            </a:r>
            <a:r>
              <a:rPr lang="en-US" sz="1800" dirty="0">
                <a:solidFill>
                  <a:srgbClr val="7030A0"/>
                </a:solidFill>
              </a:rPr>
              <a:t>			XXX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 err="1">
                <a:solidFill>
                  <a:srgbClr val="7030A0"/>
                </a:solidFill>
              </a:rPr>
              <a:t>Dividen</a:t>
            </a:r>
            <a:r>
              <a:rPr lang="en-US" sz="1800" dirty="0">
                <a:solidFill>
                  <a:srgbClr val="7030A0"/>
                </a:solidFill>
              </a:rPr>
              <a:t>		 		(XXX)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b="1" dirty="0" err="1">
                <a:solidFill>
                  <a:srgbClr val="7030A0"/>
                </a:solidFill>
              </a:rPr>
              <a:t>Saldo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 err="1">
                <a:solidFill>
                  <a:srgbClr val="7030A0"/>
                </a:solidFill>
              </a:rPr>
              <a:t>Laba</a:t>
            </a:r>
            <a:r>
              <a:rPr lang="en-US" sz="1800" b="1" dirty="0">
                <a:solidFill>
                  <a:srgbClr val="7030A0"/>
                </a:solidFill>
              </a:rPr>
              <a:t>				 XXX</a:t>
            </a:r>
            <a:endParaRPr lang="en-US" sz="1800" dirty="0">
              <a:solidFill>
                <a:srgbClr val="7030A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9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57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87154" y="321685"/>
            <a:ext cx="15201900" cy="1235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Pencatan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Administrasi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Keuangan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Dengan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MS. Excel</a:t>
            </a:r>
            <a:endParaRPr lang="en-US" sz="44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343400" y="2128768"/>
            <a:ext cx="13508496" cy="4663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7620" indent="254000" algn="just">
              <a:lnSpc>
                <a:spcPct val="95700"/>
              </a:lnSpc>
              <a:spcBef>
                <a:spcPts val="1285"/>
              </a:spcBef>
            </a:pPr>
            <a:r>
              <a:rPr lang="en-US" sz="2000" dirty="0" err="1">
                <a:latin typeface="Arial MT"/>
                <a:cs typeface="Arial MT"/>
              </a:rPr>
              <a:t>Laporan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dirty="0" err="1" smtClean="0">
                <a:latin typeface="Arial MT"/>
                <a:cs typeface="Arial MT"/>
              </a:rPr>
              <a:t>keuangan</a:t>
            </a:r>
            <a:r>
              <a:rPr lang="en-US" sz="2000" spc="5" dirty="0" smtClean="0">
                <a:latin typeface="Arial MT"/>
                <a:cs typeface="Arial MT"/>
              </a:rPr>
              <a:t> </a:t>
            </a:r>
            <a:r>
              <a:rPr lang="en-US" sz="2000" spc="5" dirty="0" err="1" smtClean="0">
                <a:latin typeface="Arial MT"/>
                <a:cs typeface="Arial MT"/>
              </a:rPr>
              <a:t>adalah</a:t>
            </a:r>
            <a:r>
              <a:rPr lang="en-US" sz="2000" spc="5" dirty="0" smtClean="0">
                <a:latin typeface="Arial MT"/>
                <a:cs typeface="Arial MT"/>
              </a:rPr>
              <a:t> </a:t>
            </a:r>
            <a:r>
              <a:rPr lang="en-US" sz="2000" spc="-5" dirty="0" err="1" smtClean="0">
                <a:latin typeface="Arial MT"/>
                <a:cs typeface="Arial MT"/>
              </a:rPr>
              <a:t>informasi</a:t>
            </a:r>
            <a:r>
              <a:rPr lang="en-US" sz="2000" dirty="0" smtClean="0">
                <a:latin typeface="Arial MT"/>
                <a:cs typeface="Arial MT"/>
              </a:rPr>
              <a:t> </a:t>
            </a:r>
            <a:r>
              <a:rPr lang="en-US" sz="2000" spc="-5" dirty="0">
                <a:latin typeface="Arial MT"/>
                <a:cs typeface="Arial MT"/>
              </a:rPr>
              <a:t>yang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menggambarkan</a:t>
            </a:r>
            <a:r>
              <a:rPr lang="en-US" sz="2000" spc="3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kondisi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keuangan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suatu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instansi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maupun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perusahaan</a:t>
            </a:r>
            <a:r>
              <a:rPr lang="en-US" sz="2000" dirty="0">
                <a:latin typeface="Arial MT"/>
                <a:cs typeface="Arial MT"/>
              </a:rPr>
              <a:t> </a:t>
            </a:r>
            <a:endParaRPr lang="en-US" sz="2000" dirty="0" smtClean="0">
              <a:latin typeface="Arial MT"/>
              <a:cs typeface="Arial MT"/>
            </a:endParaRPr>
          </a:p>
          <a:p>
            <a:pPr marL="12700" marR="7620" indent="254000" algn="just">
              <a:lnSpc>
                <a:spcPct val="95700"/>
              </a:lnSpc>
              <a:spcBef>
                <a:spcPts val="1285"/>
              </a:spcBef>
            </a:pPr>
            <a:r>
              <a:rPr lang="en-US" sz="2000" dirty="0" smtClean="0">
                <a:latin typeface="Arial MT"/>
                <a:cs typeface="Arial MT"/>
              </a:rPr>
              <a:t>[</a:t>
            </a:r>
            <a:r>
              <a:rPr lang="en-US" sz="2000" dirty="0">
                <a:latin typeface="Arial MT"/>
                <a:cs typeface="Arial MT"/>
              </a:rPr>
              <a:t>1].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Informasi</a:t>
            </a:r>
            <a:r>
              <a:rPr lang="en-US" sz="2000" spc="3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tersebut</a:t>
            </a:r>
            <a:r>
              <a:rPr lang="en-US" sz="2000" spc="3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dapat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membantu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pengguna</a:t>
            </a:r>
            <a:r>
              <a:rPr lang="en-US" sz="2000" spc="-5" dirty="0">
                <a:latin typeface="Arial MT"/>
                <a:cs typeface="Arial MT"/>
              </a:rPr>
              <a:t> (user) </a:t>
            </a:r>
            <a:r>
              <a:rPr lang="en-US" sz="2000" spc="-5" dirty="0" err="1">
                <a:latin typeface="Arial MT"/>
                <a:cs typeface="Arial MT"/>
              </a:rPr>
              <a:t>dalam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membuat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suatu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keputusan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>
                <a:latin typeface="Arial MT"/>
                <a:cs typeface="Arial MT"/>
              </a:rPr>
              <a:t>yang </a:t>
            </a:r>
            <a:r>
              <a:rPr lang="en-US" sz="2000" spc="-5" dirty="0" err="1">
                <a:latin typeface="Arial MT"/>
                <a:cs typeface="Arial MT"/>
              </a:rPr>
              <a:t>bersifat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finansial</a:t>
            </a:r>
            <a:r>
              <a:rPr lang="en-US" sz="2000" spc="-5" dirty="0">
                <a:latin typeface="Arial MT"/>
                <a:cs typeface="Arial MT"/>
              </a:rPr>
              <a:t>. 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Laporan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keuangan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sangat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berguna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sekali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untuk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memprediksi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kondisi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dimasa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>
                <a:latin typeface="Arial MT"/>
                <a:cs typeface="Arial MT"/>
              </a:rPr>
              <a:t>yang 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akan</a:t>
            </a:r>
            <a:r>
              <a:rPr lang="en-US" sz="2000" spc="-1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datang</a:t>
            </a:r>
            <a:r>
              <a:rPr lang="en-US" sz="2000" spc="-5" dirty="0" smtClean="0">
                <a:latin typeface="Arial MT"/>
                <a:cs typeface="Arial MT"/>
              </a:rPr>
              <a:t>.</a:t>
            </a:r>
          </a:p>
          <a:p>
            <a:pPr marL="12700" marR="5080" indent="254000" algn="just">
              <a:lnSpc>
                <a:spcPct val="95700"/>
              </a:lnSpc>
              <a:spcBef>
                <a:spcPts val="5"/>
              </a:spcBef>
            </a:pPr>
            <a:r>
              <a:rPr lang="en-US" sz="2000" spc="-5" dirty="0" smtClean="0">
                <a:latin typeface="Arial MT"/>
                <a:cs typeface="Arial MT"/>
              </a:rPr>
              <a:t>Microsoft </a:t>
            </a:r>
            <a:r>
              <a:rPr lang="en-US" sz="2000" spc="-5" dirty="0">
                <a:latin typeface="Arial MT"/>
                <a:cs typeface="Arial MT"/>
              </a:rPr>
              <a:t>Excel </a:t>
            </a:r>
            <a:r>
              <a:rPr lang="en-US" sz="2000" dirty="0" err="1">
                <a:latin typeface="Arial MT"/>
                <a:cs typeface="Arial MT"/>
              </a:rPr>
              <a:t>merupakan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aplikasi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spreadsheet </a:t>
            </a:r>
            <a:r>
              <a:rPr lang="en-US" sz="2000" spc="-5" dirty="0">
                <a:latin typeface="Arial MT"/>
                <a:cs typeface="Arial MT"/>
              </a:rPr>
              <a:t>yang </a:t>
            </a:r>
            <a:r>
              <a:rPr lang="en-US" sz="2000" spc="-5" dirty="0" err="1">
                <a:latin typeface="Arial MT"/>
                <a:cs typeface="Arial MT"/>
              </a:rPr>
              <a:t>dapat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digunakan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untuk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proses </a:t>
            </a:r>
            <a:r>
              <a:rPr lang="en-US" sz="2000" spc="-5" dirty="0" err="1">
                <a:latin typeface="Arial MT"/>
                <a:cs typeface="Arial MT"/>
              </a:rPr>
              <a:t>pengolahan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data </a:t>
            </a:r>
            <a:r>
              <a:rPr lang="en-US" sz="2000" dirty="0" err="1">
                <a:latin typeface="Arial MT"/>
                <a:cs typeface="Arial MT"/>
              </a:rPr>
              <a:t>dengan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menggunakan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rumus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atau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fungsi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>
                <a:latin typeface="Arial MT"/>
                <a:cs typeface="Arial MT"/>
              </a:rPr>
              <a:t>yang </a:t>
            </a:r>
            <a:r>
              <a:rPr lang="en-US" sz="2000" spc="-5" dirty="0" err="1">
                <a:latin typeface="Arial MT"/>
                <a:cs typeface="Arial MT"/>
              </a:rPr>
              <a:t>disediakan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untuk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melakukan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perhitungan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sehingga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dapat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menghemat</a:t>
            </a:r>
            <a:r>
              <a:rPr lang="en-US" sz="2000" spc="29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waktu</a:t>
            </a:r>
            <a:r>
              <a:rPr lang="en-US" sz="2000" spc="295" dirty="0">
                <a:latin typeface="Arial MT"/>
                <a:cs typeface="Arial MT"/>
              </a:rPr>
              <a:t> </a:t>
            </a:r>
            <a:endParaRPr lang="en-US" sz="2000" spc="295" dirty="0" smtClean="0">
              <a:latin typeface="Arial MT"/>
              <a:cs typeface="Arial MT"/>
            </a:endParaRPr>
          </a:p>
          <a:p>
            <a:pPr marL="12700" marR="5080" indent="254000" algn="just">
              <a:lnSpc>
                <a:spcPct val="95700"/>
              </a:lnSpc>
              <a:spcBef>
                <a:spcPts val="5"/>
              </a:spcBef>
            </a:pPr>
            <a:r>
              <a:rPr lang="en-US" sz="2000" spc="-5" dirty="0" smtClean="0">
                <a:latin typeface="Arial MT"/>
                <a:cs typeface="Arial MT"/>
              </a:rPr>
              <a:t>[</a:t>
            </a:r>
            <a:r>
              <a:rPr lang="en-US" sz="2000" spc="-5" dirty="0">
                <a:latin typeface="Arial MT"/>
                <a:cs typeface="Arial MT"/>
              </a:rPr>
              <a:t>2].</a:t>
            </a:r>
            <a:r>
              <a:rPr lang="en-US" sz="2000" spc="-5" dirty="0" err="1">
                <a:latin typeface="Arial MT"/>
                <a:cs typeface="Arial MT"/>
              </a:rPr>
              <a:t>Penggunaan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29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dari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>
                <a:latin typeface="Arial MT"/>
                <a:cs typeface="Arial MT"/>
              </a:rPr>
              <a:t>Microsoft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>
                <a:latin typeface="Arial MT"/>
                <a:cs typeface="Arial MT"/>
              </a:rPr>
              <a:t>Excel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dapat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membantu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meningkatkan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kualitas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dan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profesionalitas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pekerja</a:t>
            </a:r>
            <a:r>
              <a:rPr lang="en-US" sz="2000" spc="-1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dalam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mengolah</a:t>
            </a:r>
            <a:r>
              <a:rPr lang="en-US" sz="2000" spc="-1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data </a:t>
            </a:r>
            <a:endParaRPr lang="en-US" sz="2000" dirty="0" smtClean="0">
              <a:latin typeface="Arial MT"/>
              <a:cs typeface="Arial MT"/>
            </a:endParaRPr>
          </a:p>
          <a:p>
            <a:pPr marL="12700" marR="5080" indent="254000" algn="just">
              <a:lnSpc>
                <a:spcPct val="95700"/>
              </a:lnSpc>
              <a:spcBef>
                <a:spcPts val="5"/>
              </a:spcBef>
            </a:pPr>
            <a:r>
              <a:rPr lang="en-US" sz="2000" spc="-5" dirty="0" smtClean="0">
                <a:latin typeface="Arial MT"/>
                <a:cs typeface="Arial MT"/>
              </a:rPr>
              <a:t>[</a:t>
            </a:r>
            <a:r>
              <a:rPr lang="en-US" sz="2000" spc="-5" dirty="0">
                <a:latin typeface="Arial MT"/>
                <a:cs typeface="Arial MT"/>
              </a:rPr>
              <a:t>3</a:t>
            </a:r>
            <a:r>
              <a:rPr lang="en-US" sz="2000" spc="-5" dirty="0" smtClean="0">
                <a:latin typeface="Arial MT"/>
                <a:cs typeface="Arial MT"/>
              </a:rPr>
              <a:t>]. </a:t>
            </a:r>
            <a:r>
              <a:rPr lang="en-US" sz="2000" spc="-5" dirty="0" err="1" smtClean="0">
                <a:latin typeface="Arial MT"/>
                <a:cs typeface="Arial MT"/>
              </a:rPr>
              <a:t>Dalam</a:t>
            </a:r>
            <a:r>
              <a:rPr lang="en-US" sz="2000" dirty="0" smtClean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pembahasan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ini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akan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dijelaskan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bagaimana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langkah-langkah</a:t>
            </a:r>
            <a:r>
              <a:rPr lang="en-US" sz="2000" spc="29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membuat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laporan</a:t>
            </a:r>
            <a:r>
              <a:rPr lang="en-US" sz="2000" spc="-1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keuangan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sederhana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dengan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menggunakan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>
                <a:latin typeface="Arial MT"/>
                <a:cs typeface="Arial MT"/>
              </a:rPr>
              <a:t>Microsoft</a:t>
            </a:r>
            <a:r>
              <a:rPr lang="en-US" sz="2000" spc="10" dirty="0">
                <a:latin typeface="Arial MT"/>
                <a:cs typeface="Arial MT"/>
              </a:rPr>
              <a:t> </a:t>
            </a:r>
            <a:r>
              <a:rPr lang="en-US" sz="2000" spc="-5" dirty="0">
                <a:latin typeface="Arial MT"/>
                <a:cs typeface="Arial MT"/>
              </a:rPr>
              <a:t>Excel.</a:t>
            </a:r>
            <a:endParaRPr lang="en-US"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en-US" sz="1600" dirty="0">
              <a:latin typeface="Arial MT"/>
              <a:cs typeface="Arial MT"/>
            </a:endParaRPr>
          </a:p>
          <a:p>
            <a:pPr marL="281940" indent="-269875">
              <a:lnSpc>
                <a:spcPts val="1295"/>
              </a:lnSpc>
              <a:buAutoNum type="arabicPeriod"/>
              <a:tabLst>
                <a:tab pos="281940" algn="l"/>
                <a:tab pos="282575" algn="l"/>
              </a:tabLst>
            </a:pPr>
            <a:r>
              <a:rPr lang="en-US" sz="2000" b="1" spc="-5" dirty="0">
                <a:latin typeface="Arial"/>
                <a:cs typeface="Arial"/>
              </a:rPr>
              <a:t>SHEET1</a:t>
            </a:r>
            <a:r>
              <a:rPr lang="en-US" sz="2000" b="1" spc="-15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-</a:t>
            </a:r>
            <a:r>
              <a:rPr lang="en-US" sz="2000" b="1" spc="-5" dirty="0">
                <a:latin typeface="Arial"/>
                <a:cs typeface="Arial"/>
              </a:rPr>
              <a:t> TRANSAKSI </a:t>
            </a:r>
            <a:r>
              <a:rPr lang="en-US" sz="2000" b="1" spc="-10" dirty="0">
                <a:latin typeface="Arial"/>
                <a:cs typeface="Arial"/>
              </a:rPr>
              <a:t>KAS</a:t>
            </a:r>
            <a:endParaRPr lang="en-US" sz="2000" dirty="0">
              <a:latin typeface="Arial"/>
              <a:cs typeface="Arial"/>
            </a:endParaRPr>
          </a:p>
          <a:p>
            <a:pPr marL="12700" marR="6985" indent="254000" algn="just">
              <a:lnSpc>
                <a:spcPct val="95900"/>
              </a:lnSpc>
              <a:spcBef>
                <a:spcPts val="30"/>
              </a:spcBef>
            </a:pPr>
            <a:r>
              <a:rPr lang="en-US" sz="2000" dirty="0" err="1">
                <a:latin typeface="Arial MT"/>
                <a:cs typeface="Arial MT"/>
              </a:rPr>
              <a:t>Fungsi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dari</a:t>
            </a:r>
            <a:r>
              <a:rPr lang="en-US" sz="2000" dirty="0">
                <a:latin typeface="Arial MT"/>
                <a:cs typeface="Arial MT"/>
              </a:rPr>
              <a:t> sheet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transaksi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kas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adalah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untuk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menginput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>
                <a:latin typeface="Arial MT"/>
                <a:cs typeface="Arial MT"/>
              </a:rPr>
              <a:t>data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transaksi</a:t>
            </a:r>
            <a:r>
              <a:rPr lang="en-US" sz="2000" spc="29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kas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masuk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dan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5" dirty="0" err="1">
                <a:latin typeface="Arial MT"/>
                <a:cs typeface="Arial MT"/>
              </a:rPr>
              <a:t>kas</a:t>
            </a:r>
            <a:r>
              <a:rPr lang="en-US" sz="2000" spc="1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keluar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>
                <a:latin typeface="Arial MT"/>
                <a:cs typeface="Arial MT"/>
              </a:rPr>
              <a:t>yang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terjadi</a:t>
            </a:r>
            <a:r>
              <a:rPr lang="en-US" sz="2000" dirty="0">
                <a:latin typeface="Arial MT"/>
                <a:cs typeface="Arial MT"/>
              </a:rPr>
              <a:t>.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Berikut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langkah-langkah</a:t>
            </a:r>
            <a:r>
              <a:rPr lang="en-US" sz="2000" spc="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untuk</a:t>
            </a:r>
            <a:r>
              <a:rPr lang="en-US" sz="2000" spc="29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membuat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transaksi</a:t>
            </a:r>
            <a:r>
              <a:rPr lang="en-US" sz="2000" spc="-2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kas</a:t>
            </a:r>
            <a:r>
              <a:rPr lang="en-US" sz="2000" dirty="0" smtClean="0">
                <a:latin typeface="Arial MT"/>
                <a:cs typeface="Arial MT"/>
              </a:rPr>
              <a:t>.</a:t>
            </a:r>
          </a:p>
          <a:p>
            <a:pPr marL="12700" marR="6985" indent="254000" algn="just">
              <a:lnSpc>
                <a:spcPct val="95900"/>
              </a:lnSpc>
              <a:spcBef>
                <a:spcPts val="30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281940" marR="5080" lvl="1" indent="-269875" algn="just">
              <a:lnSpc>
                <a:spcPts val="1260"/>
              </a:lnSpc>
              <a:spcBef>
                <a:spcPts val="35"/>
              </a:spcBef>
              <a:buAutoNum type="alphaLcPeriod"/>
              <a:tabLst>
                <a:tab pos="282575" algn="l"/>
              </a:tabLst>
            </a:pPr>
            <a:r>
              <a:rPr lang="en-US" sz="2000" dirty="0" err="1">
                <a:latin typeface="Arial MT"/>
                <a:cs typeface="Arial MT"/>
              </a:rPr>
              <a:t>Buka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aplikasi</a:t>
            </a:r>
            <a:r>
              <a:rPr lang="en-US" sz="2000" spc="-5" dirty="0">
                <a:latin typeface="Arial MT"/>
                <a:cs typeface="Arial MT"/>
              </a:rPr>
              <a:t> Microsoft Excel </a:t>
            </a:r>
            <a:r>
              <a:rPr lang="en-US" sz="2000" spc="-5" dirty="0" err="1">
                <a:latin typeface="Arial MT"/>
                <a:cs typeface="Arial MT"/>
              </a:rPr>
              <a:t>lalu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simpan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dalam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direktori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masing-masing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dengan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29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nama</a:t>
            </a:r>
            <a:r>
              <a:rPr lang="en-US" sz="2000" spc="10" dirty="0">
                <a:latin typeface="Arial MT"/>
                <a:cs typeface="Arial MT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Aplikasi_Laporan.xls</a:t>
            </a:r>
            <a:r>
              <a:rPr lang="en-US" sz="2000" spc="-5" dirty="0" smtClean="0">
                <a:latin typeface="Arial MT"/>
                <a:cs typeface="Arial MT"/>
              </a:rPr>
              <a:t>.</a:t>
            </a:r>
          </a:p>
          <a:p>
            <a:pPr marL="281940" marR="5080" lvl="1" indent="-269875" algn="just">
              <a:lnSpc>
                <a:spcPts val="1260"/>
              </a:lnSpc>
              <a:spcBef>
                <a:spcPts val="35"/>
              </a:spcBef>
              <a:buAutoNum type="alphaLcPeriod"/>
              <a:tabLst>
                <a:tab pos="282575" algn="l"/>
              </a:tabLst>
            </a:pPr>
            <a:endParaRPr lang="en-US" sz="2000" dirty="0">
              <a:latin typeface="Arial MT"/>
              <a:cs typeface="Arial MT"/>
            </a:endParaRPr>
          </a:p>
          <a:p>
            <a:pPr marL="281940" algn="just">
              <a:lnSpc>
                <a:spcPts val="1240"/>
              </a:lnSpc>
            </a:pPr>
            <a:r>
              <a:rPr lang="en-US" sz="2000" spc="-5" dirty="0" err="1">
                <a:latin typeface="Arial MT"/>
                <a:cs typeface="Arial MT"/>
              </a:rPr>
              <a:t>Pada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sheet1</a:t>
            </a:r>
            <a:r>
              <a:rPr lang="en-US" sz="2000" spc="-1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buat</a:t>
            </a:r>
            <a:r>
              <a:rPr lang="en-US" sz="2000" spc="-1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tampilan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dirty="0" err="1">
                <a:latin typeface="Arial MT"/>
                <a:cs typeface="Arial MT"/>
              </a:rPr>
              <a:t>seperti</a:t>
            </a:r>
            <a:r>
              <a:rPr lang="en-US" sz="2000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dibawah</a:t>
            </a:r>
            <a:r>
              <a:rPr lang="en-US" sz="2000" spc="-5" dirty="0">
                <a:latin typeface="Arial MT"/>
                <a:cs typeface="Arial MT"/>
              </a:rPr>
              <a:t> </a:t>
            </a:r>
            <a:r>
              <a:rPr lang="en-US" sz="2000" spc="-5" dirty="0" err="1">
                <a:latin typeface="Arial MT"/>
                <a:cs typeface="Arial MT"/>
              </a:rPr>
              <a:t>ini</a:t>
            </a:r>
            <a:r>
              <a:rPr lang="en-US" sz="2000" spc="-5" dirty="0">
                <a:latin typeface="Arial MT"/>
                <a:cs typeface="Arial MT"/>
              </a:rPr>
              <a:t>.</a:t>
            </a:r>
            <a:endParaRPr lang="en-US" sz="2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75012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87154" y="321685"/>
            <a:ext cx="15201900" cy="1235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Pencatan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Stok </a:t>
            </a:r>
            <a:r>
              <a:rPr lang="en-US" sz="4400" dirty="0" err="1">
                <a:solidFill>
                  <a:srgbClr val="7030A0"/>
                </a:solidFill>
                <a:latin typeface="Poppins Ultra-Bold"/>
              </a:rPr>
              <a:t>Opname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43400" y="2128768"/>
            <a:ext cx="13508496" cy="413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8236" lvl="1" indent="-457200" algn="just">
              <a:lnSpc>
                <a:spcPts val="3385"/>
              </a:lnSpc>
              <a:buFont typeface="+mj-lt"/>
              <a:buAutoNum type="arabicPeriod"/>
            </a:pPr>
            <a:r>
              <a:rPr lang="en-US" sz="2418" dirty="0" smtClean="0">
                <a:solidFill>
                  <a:srgbClr val="000000"/>
                </a:solidFill>
                <a:latin typeface="Poppins Medium"/>
              </a:rPr>
              <a:t>a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370" y="2095217"/>
            <a:ext cx="10953999" cy="386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1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87154" y="321685"/>
            <a:ext cx="15201900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Pencatan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Administrasi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Keuangan</a:t>
            </a:r>
            <a:endParaRPr lang="en-US" sz="44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21" name="Rectangle 3"/>
          <p:cNvSpPr txBox="1">
            <a:spLocks/>
          </p:cNvSpPr>
          <p:nvPr/>
        </p:nvSpPr>
        <p:spPr>
          <a:xfrm>
            <a:off x="6858000" y="2276714"/>
            <a:ext cx="8858251" cy="48101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Pendapatan 				500.000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Beban pokok penjualan			</a:t>
            </a:r>
            <a:r>
              <a:rPr lang="id-ID" altLang="en-US" sz="1800" u="sng" smtClean="0">
                <a:solidFill>
                  <a:srgbClr val="002060"/>
                </a:solidFill>
                <a:latin typeface="Tahoma" panose="020B0604030504040204" pitchFamily="34" charset="0"/>
              </a:rPr>
              <a:t>150.000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Laba kotor					350.000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Beban usaha				</a:t>
            </a:r>
            <a:r>
              <a:rPr lang="id-ID" altLang="en-US" sz="1800" u="sng" smtClean="0">
                <a:solidFill>
                  <a:srgbClr val="002060"/>
                </a:solidFill>
                <a:latin typeface="Tahoma" panose="020B0604030504040204" pitchFamily="34" charset="0"/>
              </a:rPr>
              <a:t>(65.000)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Laba usaha				285.000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Beban bunga				</a:t>
            </a:r>
            <a:r>
              <a:rPr lang="id-ID" altLang="en-US" sz="1800" u="sng" smtClean="0">
                <a:solidFill>
                  <a:srgbClr val="002060"/>
                </a:solidFill>
                <a:latin typeface="Tahoma" panose="020B0604030504040204" pitchFamily="34" charset="0"/>
              </a:rPr>
              <a:t>(15.000)</a:t>
            </a:r>
            <a:endParaRPr lang="id-ID" altLang="en-US" sz="1800" smtClean="0">
              <a:solidFill>
                <a:srgbClr val="002060"/>
              </a:solidFill>
              <a:latin typeface="Tahoma" panose="020B0604030504040204" pitchFamily="34" charset="0"/>
            </a:endParaRP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Laba sebelum pajak				270.000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Pajak						</a:t>
            </a:r>
            <a:r>
              <a:rPr lang="id-ID" altLang="en-US" sz="1800" u="sng" smtClean="0">
                <a:solidFill>
                  <a:srgbClr val="002060"/>
                </a:solidFill>
                <a:latin typeface="Tahoma" panose="020B0604030504040204" pitchFamily="34" charset="0"/>
              </a:rPr>
              <a:t> (75.600)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Laba bersih				194.400	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endParaRPr lang="id-ID" altLang="en-US" sz="1800" smtClean="0">
              <a:solidFill>
                <a:srgbClr val="002060"/>
              </a:solidFill>
              <a:latin typeface="Tahoma" panose="020B0604030504040204" pitchFamily="34" charset="0"/>
            </a:endParaRP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Saldo laba awal tahun			225.000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Laba bersih tahun berjalan			194.400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Dividen tunai				</a:t>
            </a:r>
            <a:r>
              <a:rPr lang="id-ID" altLang="en-US" sz="1800" u="sng" smtClean="0">
                <a:solidFill>
                  <a:srgbClr val="002060"/>
                </a:solidFill>
                <a:latin typeface="Tahoma" panose="020B0604030504040204" pitchFamily="34" charset="0"/>
              </a:rPr>
              <a:t>(75.000)</a:t>
            </a:r>
          </a:p>
          <a:p>
            <a:pPr marL="1106488" lvl="1" indent="-393700">
              <a:buClr>
                <a:srgbClr val="3333FF"/>
              </a:buClr>
              <a:buFont typeface="Verdana" panose="020B0604030504040204" pitchFamily="34" charset="0"/>
              <a:buNone/>
              <a:tabLst>
                <a:tab pos="723900" algn="l"/>
                <a:tab pos="1255713" algn="l"/>
              </a:tabLst>
            </a:pPr>
            <a:r>
              <a:rPr lang="id-ID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Saldo laba akhir tahun			344.400</a:t>
            </a:r>
            <a:r>
              <a:rPr lang="en-US" altLang="en-US" sz="1800" smtClean="0">
                <a:solidFill>
                  <a:srgbClr val="002060"/>
                </a:solidFill>
                <a:latin typeface="Tahoma" panose="020B0604030504040204" pitchFamily="34" charset="0"/>
              </a:rPr>
              <a:t>	</a:t>
            </a:r>
            <a:endParaRPr lang="id-ID" altLang="en-US" sz="1800" dirty="0" smtClean="0">
              <a:solidFill>
                <a:srgbClr val="00206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51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87154" y="321685"/>
            <a:ext cx="15201900" cy="1235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Laporan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Arus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Kas</a:t>
            </a:r>
            <a:endParaRPr lang="en-US" sz="44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343400" y="2128768"/>
            <a:ext cx="13508496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Laporan perubahan arus kas menyediakan informasi mengenai perubahan 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kas dan setara kas dari entitas untuk periode yang dilaporkan, disajikan 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secara terpisah dari:</a:t>
            </a:r>
          </a:p>
          <a:p>
            <a:pPr marL="1106488" lvl="1" indent="-393700"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Aktivitas operasi</a:t>
            </a:r>
          </a:p>
          <a:p>
            <a:pPr marL="1106488" lvl="1" indent="-393700"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Aktivitas investasi</a:t>
            </a:r>
          </a:p>
          <a:p>
            <a:pPr marL="1106488" lvl="1" indent="-393700"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Aktivitas pendanaan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19269" y="5448300"/>
            <a:ext cx="9144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06488" lvl="1" indent="-393700">
              <a:buClr>
                <a:srgbClr val="3333FF"/>
              </a:buClr>
              <a:tabLst>
                <a:tab pos="723900" algn="l"/>
                <a:tab pos="1255713" algn="l"/>
              </a:tabLst>
            </a:pPr>
            <a:r>
              <a:rPr lang="id-ID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Setara kas adalah:</a:t>
            </a:r>
          </a:p>
          <a:p>
            <a:pPr marL="1106488" lvl="1" indent="-393700">
              <a:buClr>
                <a:srgbClr val="3333FF"/>
              </a:buClr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en-US" altLang="en-US" sz="2400" dirty="0" err="1">
                <a:solidFill>
                  <a:srgbClr val="002060"/>
                </a:solidFill>
                <a:latin typeface="Tahoma" panose="020B0604030504040204" pitchFamily="34" charset="0"/>
              </a:rPr>
              <a:t>i</a:t>
            </a:r>
            <a:r>
              <a:rPr lang="id-ID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nvestasi jangka pendek (kurang dari 3 bulan sejak perolehan)</a:t>
            </a:r>
          </a:p>
          <a:p>
            <a:pPr marL="1106488" lvl="1" indent="-393700">
              <a:buClr>
                <a:srgbClr val="3333FF"/>
              </a:buClr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en-US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s</a:t>
            </a:r>
            <a:r>
              <a:rPr lang="id-ID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angat likuid</a:t>
            </a:r>
          </a:p>
          <a:p>
            <a:pPr marL="1106488" lvl="1" indent="-393700">
              <a:buClr>
                <a:srgbClr val="3333FF"/>
              </a:buClr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en-US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d</a:t>
            </a:r>
            <a:r>
              <a:rPr lang="id-ID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imiliki untuk memenuhi komitmen jangka pendek</a:t>
            </a:r>
          </a:p>
          <a:p>
            <a:pPr marL="1106488" lvl="1" indent="-393700">
              <a:buClr>
                <a:srgbClr val="3333FF"/>
              </a:buClr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en-US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b</a:t>
            </a:r>
            <a:r>
              <a:rPr lang="id-ID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ukan untuk tujuan investasi atau lainnya</a:t>
            </a:r>
          </a:p>
          <a:p>
            <a:pPr marL="1106488" lvl="1" indent="-393700">
              <a:buClr>
                <a:srgbClr val="3333FF"/>
              </a:buClr>
              <a:tabLst>
                <a:tab pos="723900" algn="l"/>
                <a:tab pos="1255713" algn="l"/>
              </a:tabLst>
            </a:pPr>
            <a:endParaRPr lang="id-ID" altLang="en-US" sz="2400" dirty="0">
              <a:solidFill>
                <a:srgbClr val="002060"/>
              </a:solidFill>
              <a:latin typeface="Tahoma" panose="020B0604030504040204" pitchFamily="34" charset="0"/>
            </a:endParaRPr>
          </a:p>
          <a:p>
            <a:pPr marL="1106488" lvl="1" indent="-393700">
              <a:buClr>
                <a:srgbClr val="3333FF"/>
              </a:buClr>
              <a:tabLst>
                <a:tab pos="723900" algn="l"/>
                <a:tab pos="1255713" algn="l"/>
              </a:tabLst>
            </a:pPr>
            <a:r>
              <a:rPr lang="id-ID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Contoh:</a:t>
            </a:r>
          </a:p>
          <a:p>
            <a:pPr marL="1106488" lvl="1" indent="-393700">
              <a:buClr>
                <a:srgbClr val="3333FF"/>
              </a:buClr>
              <a:buFont typeface="Wingdings" panose="05000000000000000000" pitchFamily="2" charset="2"/>
              <a:buChar char="ü"/>
              <a:tabLst>
                <a:tab pos="723900" algn="l"/>
                <a:tab pos="1255713" algn="l"/>
              </a:tabLst>
            </a:pPr>
            <a:r>
              <a:rPr lang="id-ID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Deposito kurang dari 3 bulan</a:t>
            </a:r>
          </a:p>
          <a:p>
            <a:pPr marL="1106488" lvl="1" indent="-393700">
              <a:buClr>
                <a:srgbClr val="3333FF"/>
              </a:buClr>
              <a:buFont typeface="Wingdings" panose="05000000000000000000" pitchFamily="2" charset="2"/>
              <a:buChar char="ü"/>
              <a:tabLst>
                <a:tab pos="723900" algn="l"/>
                <a:tab pos="1255713" algn="l"/>
              </a:tabLst>
            </a:pPr>
            <a:r>
              <a:rPr lang="id-ID" altLang="en-US" sz="2400" dirty="0">
                <a:solidFill>
                  <a:srgbClr val="002060"/>
                </a:solidFill>
                <a:latin typeface="Tahoma" panose="020B0604030504040204" pitchFamily="34" charset="0"/>
              </a:rPr>
              <a:t>Cerukan bank</a:t>
            </a:r>
          </a:p>
        </p:txBody>
      </p:sp>
    </p:spTree>
    <p:extLst>
      <p:ext uri="{BB962C8B-B14F-4D97-AF65-F5344CB8AC3E}">
        <p14:creationId xmlns:p14="http://schemas.microsoft.com/office/powerpoint/2010/main" val="415902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6841" y="452371"/>
            <a:ext cx="3855025" cy="3829394"/>
            <a:chOff x="0" y="0"/>
            <a:chExt cx="812800" cy="807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14521" y="3885517"/>
            <a:ext cx="5408744" cy="5372783"/>
            <a:chOff x="0" y="0"/>
            <a:chExt cx="812800" cy="8073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16497" y="601529"/>
            <a:ext cx="1089050" cy="1081809"/>
            <a:chOff x="0" y="0"/>
            <a:chExt cx="812800" cy="8073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9851" y="6960213"/>
            <a:ext cx="3855025" cy="3829394"/>
            <a:chOff x="0" y="0"/>
            <a:chExt cx="812800" cy="8073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D8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8875" y="7843680"/>
            <a:ext cx="1038133" cy="1031230"/>
            <a:chOff x="0" y="0"/>
            <a:chExt cx="812800" cy="807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07396"/>
            </a:xfrm>
            <a:custGeom>
              <a:avLst/>
              <a:gdLst/>
              <a:ahLst/>
              <a:cxnLst/>
              <a:rect l="l" t="t" r="r" b="b"/>
              <a:pathLst>
                <a:path w="812800" h="807396">
                  <a:moveTo>
                    <a:pt x="406400" y="0"/>
                  </a:moveTo>
                  <a:cubicBezTo>
                    <a:pt x="181951" y="0"/>
                    <a:pt x="0" y="180742"/>
                    <a:pt x="0" y="403698"/>
                  </a:cubicBezTo>
                  <a:cubicBezTo>
                    <a:pt x="0" y="626654"/>
                    <a:pt x="181951" y="807396"/>
                    <a:pt x="406400" y="807396"/>
                  </a:cubicBezTo>
                  <a:cubicBezTo>
                    <a:pt x="630849" y="807396"/>
                    <a:pt x="812800" y="626654"/>
                    <a:pt x="812800" y="403698"/>
                  </a:cubicBezTo>
                  <a:cubicBezTo>
                    <a:pt x="812800" y="1807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7593"/>
              <a:ext cx="660400" cy="694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87154" y="321685"/>
            <a:ext cx="15201900" cy="1235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Aktivitas</a:t>
            </a:r>
            <a:r>
              <a:rPr lang="en-US" sz="4400" dirty="0" smtClean="0">
                <a:solidFill>
                  <a:srgbClr val="7030A0"/>
                </a:solidFill>
                <a:latin typeface="Poppins Ultra-Bold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Poppins Ultra-Bold"/>
              </a:rPr>
              <a:t>Operasional</a:t>
            </a:r>
            <a:endParaRPr lang="en-US" sz="4400" dirty="0">
              <a:solidFill>
                <a:srgbClr val="7030A0"/>
              </a:solidFill>
              <a:latin typeface="Poppins Ultra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343400" y="2128768"/>
            <a:ext cx="13508496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06488" lvl="1" indent="-393700">
              <a:buClr>
                <a:srgbClr val="3333FF"/>
              </a:buClr>
              <a:tabLst>
                <a:tab pos="723900" algn="l"/>
                <a:tab pos="1255713" algn="l"/>
              </a:tabLst>
            </a:pP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Arus kas dari aktivitas operasi terutama diperoleh dari aktivitas penghasil </a:t>
            </a:r>
          </a:p>
          <a:p>
            <a:pPr marL="1106488" lvl="1" indent="-393700">
              <a:buClr>
                <a:srgbClr val="3333FF"/>
              </a:buClr>
              <a:tabLst>
                <a:tab pos="723900" algn="l"/>
                <a:tab pos="1255713" algn="l"/>
              </a:tabLst>
            </a:pP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utama pendapatan entitas.</a:t>
            </a:r>
          </a:p>
          <a:p>
            <a:pPr marL="1106488" lvl="1" indent="-393700">
              <a:buClr>
                <a:srgbClr val="3333FF"/>
              </a:buClr>
              <a:tabLst>
                <a:tab pos="723900" algn="l"/>
                <a:tab pos="1255713" algn="l"/>
              </a:tabLst>
            </a:pPr>
            <a:endParaRPr lang="id-ID" altLang="en-US" sz="2800" dirty="0">
              <a:solidFill>
                <a:srgbClr val="002060"/>
              </a:solidFill>
              <a:latin typeface="Tahoma" panose="020B0604030504040204" pitchFamily="34" charset="0"/>
            </a:endParaRPr>
          </a:p>
          <a:p>
            <a:pPr marL="1106488" lvl="1" indent="-393700">
              <a:buClr>
                <a:srgbClr val="3333FF"/>
              </a:buClr>
              <a:tabLst>
                <a:tab pos="723900" algn="l"/>
                <a:tab pos="1255713" algn="l"/>
              </a:tabLst>
            </a:pP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Contoh arus kas dari:</a:t>
            </a:r>
          </a:p>
          <a:p>
            <a:pPr marL="1106488" lvl="1" indent="-393700">
              <a:buClr>
                <a:srgbClr val="3333FF"/>
              </a:buClr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en-US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p</a:t>
            </a: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enjualan barang dan jasa</a:t>
            </a:r>
          </a:p>
          <a:p>
            <a:pPr marL="1106488" lvl="1" indent="-393700">
              <a:buClr>
                <a:srgbClr val="3333FF"/>
              </a:buClr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en-US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r</a:t>
            </a: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oyalti, komisi dan pendapatan lainnya</a:t>
            </a:r>
          </a:p>
          <a:p>
            <a:pPr marL="1106488" lvl="1" indent="-393700">
              <a:buClr>
                <a:srgbClr val="3333FF"/>
              </a:buClr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en-US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p</a:t>
            </a: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embayaran kepada pemasok dan pegawai</a:t>
            </a:r>
          </a:p>
          <a:p>
            <a:pPr marL="1106488" lvl="1" indent="-393700">
              <a:buClr>
                <a:srgbClr val="3333FF"/>
              </a:buClr>
              <a:buFont typeface="Wingdings" panose="05000000000000000000" pitchFamily="2" charset="2"/>
              <a:buChar char="q"/>
              <a:tabLst>
                <a:tab pos="723900" algn="l"/>
                <a:tab pos="1255713" algn="l"/>
              </a:tabLst>
            </a:pPr>
            <a:r>
              <a:rPr lang="en-US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p</a:t>
            </a:r>
            <a:r>
              <a:rPr lang="id-ID" altLang="en-US" sz="2800" dirty="0">
                <a:solidFill>
                  <a:srgbClr val="002060"/>
                </a:solidFill>
                <a:latin typeface="Tahoma" panose="020B0604030504040204" pitchFamily="34" charset="0"/>
              </a:rPr>
              <a:t>embayaran pajak penghasilan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6400" y="5768036"/>
            <a:ext cx="9144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Laba sebelum pajak					270.000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Penyesuaian: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		Penyusutan				  	  15.000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		Keuntungan penjualan aset tetap		  	  (7.500)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		Beban imbalan pasca kerja		  	  12.600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		Pendapatan bunga			  	  </a:t>
            </a:r>
            <a:r>
              <a:rPr lang="id-ID" altLang="en-US" u="sng" dirty="0">
                <a:solidFill>
                  <a:srgbClr val="002060"/>
                </a:solidFill>
                <a:latin typeface="Tahoma" panose="020B0604030504040204" pitchFamily="34" charset="0"/>
              </a:rPr>
              <a:t>(2.500)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Arus kas operasi sebelum perubahan modal kerja	287.600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		Piutang dagang					 (65.000)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		Persediaan					  45.000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		Beban dibayar dimuka				  (4.500)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		Utang dagang					</a:t>
            </a:r>
            <a:r>
              <a:rPr lang="id-ID" altLang="en-US" u="sng" dirty="0">
                <a:solidFill>
                  <a:srgbClr val="002060"/>
                </a:solidFill>
                <a:latin typeface="Tahoma" panose="020B0604030504040204" pitchFamily="34" charset="0"/>
              </a:rPr>
              <a:t>  25.000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Arus kas dari aktivitas operasi			</a:t>
            </a:r>
            <a:r>
              <a:rPr lang="en-US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288.100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Pembayaran pajak penghasilan			</a:t>
            </a:r>
            <a:r>
              <a:rPr lang="id-ID" altLang="en-US" u="sng" dirty="0">
                <a:solidFill>
                  <a:srgbClr val="002060"/>
                </a:solidFill>
                <a:latin typeface="Tahoma" panose="020B0604030504040204" pitchFamily="34" charset="0"/>
              </a:rPr>
              <a:t> (75.600)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r>
              <a:rPr lang="id-ID" altLang="en-US" dirty="0">
                <a:solidFill>
                  <a:srgbClr val="002060"/>
                </a:solidFill>
                <a:latin typeface="Tahoma" panose="020B0604030504040204" pitchFamily="34" charset="0"/>
              </a:rPr>
              <a:t>Arus kas bersih dari aktivitas operasi			212.500</a:t>
            </a:r>
          </a:p>
          <a:p>
            <a:pPr marL="1106488" lvl="1" indent="-393700">
              <a:tabLst>
                <a:tab pos="723900" algn="l"/>
                <a:tab pos="1255713" algn="l"/>
              </a:tabLst>
            </a:pPr>
            <a:endParaRPr lang="id-ID" altLang="en-US" dirty="0">
              <a:solidFill>
                <a:srgbClr val="00206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03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46962" y="4131361"/>
            <a:ext cx="4996443" cy="4750680"/>
            <a:chOff x="0" y="0"/>
            <a:chExt cx="1293983" cy="1230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3983" cy="1230335"/>
            </a:xfrm>
            <a:custGeom>
              <a:avLst/>
              <a:gdLst/>
              <a:ahLst/>
              <a:cxnLst/>
              <a:rect l="l" t="t" r="r" b="b"/>
              <a:pathLst>
                <a:path w="1293983" h="1230335">
                  <a:moveTo>
                    <a:pt x="646992" y="0"/>
                  </a:moveTo>
                  <a:cubicBezTo>
                    <a:pt x="289668" y="0"/>
                    <a:pt x="0" y="275420"/>
                    <a:pt x="0" y="615167"/>
                  </a:cubicBezTo>
                  <a:cubicBezTo>
                    <a:pt x="0" y="954915"/>
                    <a:pt x="289668" y="1230335"/>
                    <a:pt x="646992" y="1230335"/>
                  </a:cubicBezTo>
                  <a:cubicBezTo>
                    <a:pt x="1004315" y="1230335"/>
                    <a:pt x="1293983" y="954915"/>
                    <a:pt x="1293983" y="615167"/>
                  </a:cubicBezTo>
                  <a:cubicBezTo>
                    <a:pt x="1293983" y="275420"/>
                    <a:pt x="1004315" y="0"/>
                    <a:pt x="646992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21311" y="77244"/>
              <a:ext cx="1051361" cy="1037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24007" y="5963633"/>
            <a:ext cx="7854157" cy="7627620"/>
            <a:chOff x="0" y="0"/>
            <a:chExt cx="1027471" cy="9978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7471" cy="997836"/>
            </a:xfrm>
            <a:custGeom>
              <a:avLst/>
              <a:gdLst/>
              <a:ahLst/>
              <a:cxnLst/>
              <a:rect l="l" t="t" r="r" b="b"/>
              <a:pathLst>
                <a:path w="1027471" h="997836">
                  <a:moveTo>
                    <a:pt x="513735" y="0"/>
                  </a:moveTo>
                  <a:cubicBezTo>
                    <a:pt x="230007" y="0"/>
                    <a:pt x="0" y="223373"/>
                    <a:pt x="0" y="498918"/>
                  </a:cubicBezTo>
                  <a:cubicBezTo>
                    <a:pt x="0" y="774463"/>
                    <a:pt x="230007" y="997836"/>
                    <a:pt x="513735" y="997836"/>
                  </a:cubicBezTo>
                  <a:cubicBezTo>
                    <a:pt x="797464" y="997836"/>
                    <a:pt x="1027471" y="774463"/>
                    <a:pt x="1027471" y="498918"/>
                  </a:cubicBezTo>
                  <a:cubicBezTo>
                    <a:pt x="1027471" y="223373"/>
                    <a:pt x="797464" y="0"/>
                    <a:pt x="513735" y="0"/>
                  </a:cubicBezTo>
                  <a:close/>
                </a:path>
              </a:pathLst>
            </a:custGeom>
            <a:solidFill>
              <a:srgbClr val="124A8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96325" y="55447"/>
              <a:ext cx="834820" cy="848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744293" y="-2576106"/>
            <a:ext cx="7203777" cy="5740737"/>
            <a:chOff x="0" y="0"/>
            <a:chExt cx="1019944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9944" cy="812800"/>
            </a:xfrm>
            <a:custGeom>
              <a:avLst/>
              <a:gdLst/>
              <a:ahLst/>
              <a:cxnLst/>
              <a:rect l="l" t="t" r="r" b="b"/>
              <a:pathLst>
                <a:path w="1019944" h="812800">
                  <a:moveTo>
                    <a:pt x="509972" y="0"/>
                  </a:moveTo>
                  <a:cubicBezTo>
                    <a:pt x="228322" y="0"/>
                    <a:pt x="0" y="181951"/>
                    <a:pt x="0" y="406400"/>
                  </a:cubicBezTo>
                  <a:cubicBezTo>
                    <a:pt x="0" y="630849"/>
                    <a:pt x="228322" y="812800"/>
                    <a:pt x="509972" y="812800"/>
                  </a:cubicBezTo>
                  <a:cubicBezTo>
                    <a:pt x="791622" y="812800"/>
                    <a:pt x="1019944" y="630849"/>
                    <a:pt x="1019944" y="406400"/>
                  </a:cubicBezTo>
                  <a:cubicBezTo>
                    <a:pt x="1019944" y="181951"/>
                    <a:pt x="791622" y="0"/>
                    <a:pt x="509972" y="0"/>
                  </a:cubicBezTo>
                  <a:close/>
                </a:path>
              </a:pathLst>
            </a:custGeom>
            <a:solidFill>
              <a:srgbClr val="124A8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95620" y="38100"/>
              <a:ext cx="828704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4893" y="1030836"/>
            <a:ext cx="8225327" cy="8225327"/>
          </a:xfrm>
          <a:custGeom>
            <a:avLst/>
            <a:gdLst/>
            <a:ahLst/>
            <a:cxnLst/>
            <a:rect l="l" t="t" r="r" b="b"/>
            <a:pathLst>
              <a:path w="8225327" h="8225327">
                <a:moveTo>
                  <a:pt x="0" y="0"/>
                </a:moveTo>
                <a:lnTo>
                  <a:pt x="8225327" y="0"/>
                </a:lnTo>
                <a:lnTo>
                  <a:pt x="8225327" y="8225328"/>
                </a:lnTo>
                <a:lnTo>
                  <a:pt x="0" y="8225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-964351" y="3536512"/>
            <a:ext cx="6637719" cy="3318859"/>
          </a:xfrm>
          <a:custGeom>
            <a:avLst/>
            <a:gdLst/>
            <a:ahLst/>
            <a:cxnLst/>
            <a:rect l="l" t="t" r="r" b="b"/>
            <a:pathLst>
              <a:path w="6637719" h="3318859">
                <a:moveTo>
                  <a:pt x="0" y="0"/>
                </a:moveTo>
                <a:lnTo>
                  <a:pt x="6637718" y="0"/>
                </a:lnTo>
                <a:lnTo>
                  <a:pt x="6637718" y="3318859"/>
                </a:lnTo>
                <a:lnTo>
                  <a:pt x="0" y="3318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2426034" y="3459994"/>
            <a:ext cx="6651061" cy="3458552"/>
          </a:xfrm>
          <a:custGeom>
            <a:avLst/>
            <a:gdLst/>
            <a:ahLst/>
            <a:cxnLst/>
            <a:rect l="l" t="t" r="r" b="b"/>
            <a:pathLst>
              <a:path w="6651061" h="3458552">
                <a:moveTo>
                  <a:pt x="0" y="0"/>
                </a:moveTo>
                <a:lnTo>
                  <a:pt x="6651061" y="0"/>
                </a:lnTo>
                <a:lnTo>
                  <a:pt x="6651061" y="3458552"/>
                </a:lnTo>
                <a:lnTo>
                  <a:pt x="0" y="345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95078" y="1580237"/>
            <a:ext cx="6618001" cy="6618001"/>
          </a:xfrm>
          <a:custGeom>
            <a:avLst/>
            <a:gdLst/>
            <a:ahLst/>
            <a:cxnLst/>
            <a:rect l="l" t="t" r="r" b="b"/>
            <a:pathLst>
              <a:path w="6618001" h="6618001">
                <a:moveTo>
                  <a:pt x="0" y="0"/>
                </a:moveTo>
                <a:lnTo>
                  <a:pt x="6618001" y="0"/>
                </a:lnTo>
                <a:lnTo>
                  <a:pt x="6618001" y="6618001"/>
                </a:lnTo>
                <a:lnTo>
                  <a:pt x="0" y="6618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32092" y="2296990"/>
            <a:ext cx="5616761" cy="2808381"/>
          </a:xfrm>
          <a:custGeom>
            <a:avLst/>
            <a:gdLst/>
            <a:ahLst/>
            <a:cxnLst/>
            <a:rect l="l" t="t" r="r" b="b"/>
            <a:pathLst>
              <a:path w="5616761" h="2808381">
                <a:moveTo>
                  <a:pt x="0" y="0"/>
                </a:moveTo>
                <a:lnTo>
                  <a:pt x="5616762" y="0"/>
                </a:lnTo>
                <a:lnTo>
                  <a:pt x="5616762" y="2808381"/>
                </a:lnTo>
                <a:lnTo>
                  <a:pt x="0" y="2808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2203071" y="6885441"/>
            <a:ext cx="3621733" cy="1512074"/>
          </a:xfrm>
          <a:custGeom>
            <a:avLst/>
            <a:gdLst/>
            <a:ahLst/>
            <a:cxnLst/>
            <a:rect l="l" t="t" r="r" b="b"/>
            <a:pathLst>
              <a:path w="3621733" h="1512074">
                <a:moveTo>
                  <a:pt x="0" y="0"/>
                </a:moveTo>
                <a:lnTo>
                  <a:pt x="3621733" y="0"/>
                </a:lnTo>
                <a:lnTo>
                  <a:pt x="3621733" y="1512074"/>
                </a:lnTo>
                <a:lnTo>
                  <a:pt x="0" y="15120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018447" y="4186034"/>
            <a:ext cx="9599224" cy="202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75"/>
              </a:lnSpc>
              <a:spcBef>
                <a:spcPct val="0"/>
              </a:spcBef>
            </a:pPr>
            <a:r>
              <a:rPr lang="en-US" sz="11839" dirty="0">
                <a:solidFill>
                  <a:srgbClr val="7030A0"/>
                </a:solidFill>
                <a:latin typeface="Poppins Ultra-Bold"/>
              </a:rPr>
              <a:t>Thank You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-1026495" y="2561143"/>
            <a:ext cx="1721573" cy="1636893"/>
            <a:chOff x="0" y="0"/>
            <a:chExt cx="1293983" cy="12303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3983" cy="1230335"/>
            </a:xfrm>
            <a:custGeom>
              <a:avLst/>
              <a:gdLst/>
              <a:ahLst/>
              <a:cxnLst/>
              <a:rect l="l" t="t" r="r" b="b"/>
              <a:pathLst>
                <a:path w="1293983" h="1230335">
                  <a:moveTo>
                    <a:pt x="646992" y="0"/>
                  </a:moveTo>
                  <a:cubicBezTo>
                    <a:pt x="289668" y="0"/>
                    <a:pt x="0" y="275420"/>
                    <a:pt x="0" y="615167"/>
                  </a:cubicBezTo>
                  <a:cubicBezTo>
                    <a:pt x="0" y="954915"/>
                    <a:pt x="289668" y="1230335"/>
                    <a:pt x="646992" y="1230335"/>
                  </a:cubicBezTo>
                  <a:cubicBezTo>
                    <a:pt x="1004315" y="1230335"/>
                    <a:pt x="1293983" y="954915"/>
                    <a:pt x="1293983" y="615167"/>
                  </a:cubicBezTo>
                  <a:cubicBezTo>
                    <a:pt x="1293983" y="275420"/>
                    <a:pt x="1004315" y="0"/>
                    <a:pt x="646992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1311" y="77244"/>
              <a:ext cx="1051361" cy="1037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52293" y="9468554"/>
            <a:ext cx="1721573" cy="1636893"/>
            <a:chOff x="0" y="0"/>
            <a:chExt cx="1293983" cy="123033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93983" cy="1230335"/>
            </a:xfrm>
            <a:custGeom>
              <a:avLst/>
              <a:gdLst/>
              <a:ahLst/>
              <a:cxnLst/>
              <a:rect l="l" t="t" r="r" b="b"/>
              <a:pathLst>
                <a:path w="1293983" h="1230335">
                  <a:moveTo>
                    <a:pt x="646992" y="0"/>
                  </a:moveTo>
                  <a:cubicBezTo>
                    <a:pt x="289668" y="0"/>
                    <a:pt x="0" y="275420"/>
                    <a:pt x="0" y="615167"/>
                  </a:cubicBezTo>
                  <a:cubicBezTo>
                    <a:pt x="0" y="954915"/>
                    <a:pt x="289668" y="1230335"/>
                    <a:pt x="646992" y="1230335"/>
                  </a:cubicBezTo>
                  <a:cubicBezTo>
                    <a:pt x="1004315" y="1230335"/>
                    <a:pt x="1293983" y="954915"/>
                    <a:pt x="1293983" y="615167"/>
                  </a:cubicBezTo>
                  <a:cubicBezTo>
                    <a:pt x="1293983" y="275420"/>
                    <a:pt x="1004315" y="0"/>
                    <a:pt x="646992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1311" y="77244"/>
              <a:ext cx="1051361" cy="1037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1743992" y="294263"/>
            <a:ext cx="1074067" cy="1074067"/>
          </a:xfrm>
          <a:custGeom>
            <a:avLst/>
            <a:gdLst/>
            <a:ahLst/>
            <a:cxnLst/>
            <a:rect l="l" t="t" r="r" b="b"/>
            <a:pathLst>
              <a:path w="1074067" h="1074067">
                <a:moveTo>
                  <a:pt x="0" y="0"/>
                </a:moveTo>
                <a:lnTo>
                  <a:pt x="1074066" y="0"/>
                </a:lnTo>
                <a:lnTo>
                  <a:pt x="1074066" y="1074067"/>
                </a:lnTo>
                <a:lnTo>
                  <a:pt x="0" y="1074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922333" y="424592"/>
            <a:ext cx="492882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18"/>
              </a:lnSpc>
            </a:pPr>
            <a:r>
              <a:rPr lang="en-US" sz="3348">
                <a:solidFill>
                  <a:srgbClr val="000000"/>
                </a:solidFill>
                <a:latin typeface="Montserrat Bold"/>
              </a:rPr>
              <a:t>Institut Teknologi Del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43891" y="859871"/>
            <a:ext cx="440231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78"/>
              </a:lnSpc>
            </a:pPr>
            <a:r>
              <a:rPr lang="en-US" sz="2148">
                <a:solidFill>
                  <a:srgbClr val="000000"/>
                </a:solidFill>
                <a:latin typeface="Montserrat Bold"/>
              </a:rPr>
              <a:t>MarTuhan-Marroha-Marbisuk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922333" y="8397515"/>
            <a:ext cx="899376" cy="899376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3566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3028456" y="8503638"/>
            <a:ext cx="687130" cy="687130"/>
          </a:xfrm>
          <a:custGeom>
            <a:avLst/>
            <a:gdLst/>
            <a:ahLst/>
            <a:cxnLst/>
            <a:rect l="l" t="t" r="r" b="b"/>
            <a:pathLst>
              <a:path w="687130" h="687130">
                <a:moveTo>
                  <a:pt x="0" y="0"/>
                </a:moveTo>
                <a:lnTo>
                  <a:pt x="687131" y="0"/>
                </a:lnTo>
                <a:lnTo>
                  <a:pt x="687131" y="687130"/>
                </a:lnTo>
                <a:lnTo>
                  <a:pt x="0" y="6871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4049667" y="8751055"/>
            <a:ext cx="4699976" cy="447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95"/>
              </a:lnSpc>
            </a:pPr>
            <a:r>
              <a:rPr lang="en-US" sz="2639">
                <a:solidFill>
                  <a:srgbClr val="000000"/>
                </a:solidFill>
                <a:latin typeface="Montserrat Semi-Bold"/>
              </a:rPr>
              <a:t>www.del.ac.id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049667" y="8465538"/>
            <a:ext cx="2757767" cy="34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63"/>
              </a:lnSpc>
              <a:spcBef>
                <a:spcPct val="0"/>
              </a:spcBef>
            </a:pPr>
            <a:r>
              <a:rPr lang="en-US" sz="2045">
                <a:solidFill>
                  <a:srgbClr val="000000"/>
                </a:solidFill>
                <a:latin typeface="Montserrat"/>
              </a:rPr>
              <a:t>Visit Our Website: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990</Words>
  <Application>Microsoft Office PowerPoint</Application>
  <PresentationFormat>Custom</PresentationFormat>
  <Paragraphs>189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Calibri</vt:lpstr>
      <vt:lpstr>Wingdings</vt:lpstr>
      <vt:lpstr>Arial</vt:lpstr>
      <vt:lpstr>Montserrat Bold</vt:lpstr>
      <vt:lpstr>Montserrat Semi-Bold</vt:lpstr>
      <vt:lpstr>Tahoma</vt:lpstr>
      <vt:lpstr>Poppins Bold</vt:lpstr>
      <vt:lpstr>Poppins Medium</vt:lpstr>
      <vt:lpstr>Poppins Ultra-Bold</vt:lpstr>
      <vt:lpstr>Montserrat</vt:lpstr>
      <vt:lpstr>MV Boli</vt:lpstr>
      <vt:lpstr>Bauhaus 93</vt:lpstr>
      <vt:lpstr>Arial MT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KEHIDUPAN MAHASISWA</dc:title>
  <dc:creator>user</dc:creator>
  <cp:lastModifiedBy>user</cp:lastModifiedBy>
  <cp:revision>59</cp:revision>
  <dcterms:created xsi:type="dcterms:W3CDTF">2006-08-16T00:00:00Z</dcterms:created>
  <dcterms:modified xsi:type="dcterms:W3CDTF">2024-11-25T01:58:26Z</dcterms:modified>
  <dc:identifier>DAF1b2qdRjs</dc:identifier>
</cp:coreProperties>
</file>